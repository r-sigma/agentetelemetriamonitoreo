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441b8163-08f6-12cb-f4bc-add03e68e74d}">
          <p14:sldIdLst>
            <p14:sldId id="256"/>
            <p14:sldId id="257"/>
          </p14:sldIdLst>
        </p14:section>
        <p14:section name="1. Caso propuesto y problemática" id="{585b0065-39f1-3c0e-763f-50fe80ce5f99}">
          <p14:sldIdLst>
            <p14:sldId id="258"/>
          </p14:sldIdLst>
        </p14:section>
        <p14:section name="2. Objetivos, alcance y actores" id="{aefc9f8c-3972-6842-2d54-377295bf12a2}">
          <p14:sldIdLst>
            <p14:sldId id="259"/>
            <p14:sldId id="260"/>
            <p14:sldId id="261"/>
          </p14:sldIdLst>
        </p14:section>
        <p14:section name="3. Requerimientos" id="{4cebd2f6-a80d-f2b2-8aef-bb51f719177f}">
          <p14:sldIdLst>
            <p14:sldId id="262"/>
            <p14:sldId id="263"/>
          </p14:sldIdLst>
        </p14:section>
        <p14:section name="4. Flujos y mockups" id="{1563ecd6-e4dc-f91c-f8f6-cc7850c86542}">
          <p14:sldIdLst>
            <p14:sldId id="264"/>
            <p14:sldId id="265"/>
            <p14:sldId id="266"/>
            <p14:sldId id="267"/>
          </p14:sldIdLst>
        </p14:section>
        <p14:section name="5. Arquitectura del proyecto" id="{458a312a-a8fa-3def-ed7e-7218b3071c33}">
          <p14:sldIdLst>
            <p14:sldId id="268"/>
            <p14:sldId id="269"/>
            <p14:sldId id="270"/>
          </p14:sldIdLst>
        </p14:section>
        <p14:section name="6. Base de datos" id="{d35f7f30-1fd2-f80b-416e-c98d80ec29dd}">
          <p14:sldIdLst>
            <p14:sldId id="271"/>
          </p14:sldIdLst>
        </p14:section>
        <p14:section name="7. Planning y sprints" id="{3a90ee71-f1c2-11f7-8931-3e970e18f353}">
          <p14:sldIdLst>
            <p14:sldId id="272"/>
            <p14:sldId id="273"/>
            <p14:sldId id="274"/>
          </p14:sldIdLst>
        </p14:section>
        <p14:section name="Cierre" id="{f5dda4e7-6530-66a5-e598-077646978eec}">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grupo del Caso 3. Este avance cubre los puntos 1 a 7 del índice del profesor: caso y problemática, objetivos, requerimientos, flujos y mockups, arquitectura, base de datos y planning de sprints. No se presenta código en 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siete puntos siguen el índice del profesor. Cada integrante expone una parte; el profesor puede preguntar a cualquiera, así que todos deben conocer el flujo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es el Agente de Telemetría: una aplicación web con Django y MVC que monitorea CPU, RAM, disco y batería, alerta por umbrales y guarda historial. La primera entrega fue un script de consola con psutil; esa lectura de métricas se reutiliza como agente. La problemática: los equipos de TI necesitan prevenir caídas y hoy suelen monitorear a mano o con herramientas de terceros poco flexibles.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general: una web con MVC para que TI supervise recursos, reciba alertas y consulte historial. Los seis objetivos específicos: autenticación, servidores con credenciales cifradas, captura con psutil, alertas por umbral (CPU 80, RAM 85, disco 90, batería 20), dashboard con historial por fecha y evaluar WebSockets.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Alcance: login con roles, gestión de servidores, lectura de las cuatro métricas, alertas visuales, dashboard e historial por fecha. Quedan fuera notificaciones externas, integración real con Zabbix, acciones de control sobre servidores, monitoreo de red o procesos y app móvil. Zabbix se menciona solo como referencia de la industria.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actores. El Administrador de TI gestiona servidores y consulta todo; el Visor solo consulta. Estos dos roles son una propuesta y se reflejan en el campo rol de la tabla Usuario. El Agente de telemetría (psutil) y el Equipo monitoreado son los actores del lado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requerimientos funcionales. RF-01 a RF-06 son los que ya veníamos presentando; RF-07 (gestión de servidores) se agregó porque la tabla Servidor y el mockup lo necesitan. Las alertas usan los umbrales CPU 80%, RAM 85%, disco 90% y batería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requerimientos no funcionales y cómo se verifica cada uno: usabilidad con la ficha DCU y una prueba con un usuario; rendimiento midiendo el consumo del propio agente; seguridad con rutas protegidas y verificando que el archivo .env no se suba a GitHub; compatibilidad probando en un equipo sin batería; escalabilidad revisando que una métrica nueva solo toque modelo, recolector y template; mantenibilidad con revisión de pull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principal: el usuario inicia sesión (1), el agente lee los recursos con psutil (2), se evalúan las alertas (3), se guarda el reporte (4) y el dashboard lo muestra (5). Los pasos 2 a 5 se repiten cada X segundos: eso es el Polling. Cada paso se asocia a su requerimiento. Los colores del diagrama indican la capa: azul proceso/modelo, ámbar decisión/controlador, verde interfaz/vista.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diseñar cada pantalla respondimos las cuatro preguntas del Diseño Centrado en el Usuario de la Semana 4: usuario, tarea, expectativa y feedback. En el login: el usuario quiere entrar rápido, espera entrar al panel o ver un error claro, y el feedback es el botón con estado y un mensaje junto al campo. Es una propuesta visual, aún no implementada.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dashboard muestra de un vistazo las cuatro métricas con barras de color, un banner que resume el estado (verde normal, ámbar o rojo alerta) y una tabla con el historial de reportes. La batería aparece como N/A en equipos sin batería, tal como pasó en la PC de escritorio del Avance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pantalla cubre RF-07. El administrador ve cada servidor con una etiqueta de estado (Normal, Alerta o Sin conexión), la hora del último reporte y un aviso de que las contraseñas se guardan cifradas y nunca se muestran. Los nombres e IPs del mockup son de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 organiza el código como MTV, que equivale a MVC: el Modelo es models.py, la Vista de MVC es el Template HTML con Bootstrap y el Controlador de MVC es views.py con urls.py. En el diagrama: el navegador habla con la Vista, esta pasa por el Controlador, que usa el Modelo para leer y escribir en la base de datos. El agente de telemetría entrega las métricas al Controlador. Django Channels aparece punteado porque es una mejora planificada.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Python, Django, psutil, PostgreSQL en Neon con SQLite como respaldo local, Bootstrap, Django Channels como mejora, Git y GitHub. Neon permite que los cuatro trabajemos sobre la misma base sin pasarnos archivos; la cadena de conexión va en una variable de entorno. Punto abierto: psutil solo lee la máquina donde corre, por eso primero se valida con el equipo local y los servidores remotos (por ejemplo por SSH) se confirman al iniciar el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Conexión con la Semana 1: Polling es la E/S programada (Paradigma 1) y WebSockets son las interrupciones o callbacks (Paradigma 2). El dashboard arranca con Polling, que es más simple y ya está validado; WebSockets con Django Channels se evalúa en el Sprint 3 como mejora, sin que el proyecto dependa de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tablas: Usuario (6 campos), Servidor (7) y Reporte (9). Un Usuario administra varios Servidores y un Servidor genera muchos Reportes. Decisiones de diseño: contraseñas con hash y credenciales de servidores cifradas; bateria_percent admite nulos porque en el Avance 1 la PC de escritorio mostró N/A; índice en servidor_id y timestamp para consultar por fecha; Usuario extiende el usuario de Django. Los tipos de dato y restricciones de cada campo están en el documento del Avance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Sprint 0 (Semanas 5 a 10) es análisis y diseño, y su entregable es este avance. Luego tres sprints de dos semanas: Sprint 1 base y acceso, Sprint 2 núcleo de monitoreo, Sprint 3 historial y cierre. Las fechas exactas dependen del cronograma del curso. Usamos un tablero Kanban en GitHub Projects; los responsables de cada tarea se definen al iniciar cada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por sprint. Sprint 1: proyecto Django y repositorio, conexión a la base, modelos y migraciones, login con roles. Sprint 2: agente con psutil, reportes, alertas, dashboard con Polling y gestión de servidores. Sprint 3: consulta por fecha, WebSockets si hay tiempo, pruebas, documentación y revisión de seguridad. Cada sprint cierra con un entregable demostrable.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riesgos. La dependencia de internet para Neon se mitiga con SQLite local. WebSockets pueden retrasar el Sprint 3, por eso Polling queda como versión funcional. Leer servidores remotos puede ser más complejo de lo previsto, así que se valida primero con el equipo local. Y para no exponer credenciales usamos variables de entorno y .gitignore desde el Sprint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los próximos pasos son subir el proyecto Django base al repositorio (una rama por integrante), conectar la base de datos y crear los modelos, implementar el login y las pantallas de los mockups, y construir el agente con psutil y el dashboard con Polling. Quedamos atentos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logo_utp.png">    </p:cNvPr>
          <p:cNvPicPr>
            <a:picLocks noChangeAspect="1"/>
          </p:cNvPicPr>
          <p:nvPr/>
        </p:nvPicPr>
        <p:blipFill>
          <a:blip r:embed="rId1"/>
          <a:stretch>
            <a:fillRect/>
          </a:stretch>
        </p:blipFill>
        <p:spPr>
          <a:xfrm>
            <a:off x="10378440" y="365760"/>
            <a:ext cx="1234440" cy="279806"/>
          </a:xfrm>
          <a:prstGeom prst="rect">
            <a:avLst/>
          </a:prstGeom>
        </p:spPr>
      </p:pic>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Caso 3 · Agente de Telemetría · Avance 2 (Semana 10)</a:t>
            </a:r>
            <a:endParaRPr lang="en-US" sz="1000" dirty="0"/>
          </a:p>
        </p:txBody>
      </p:sp>
      <p:sp>
        <p:nvSpPr>
          <p:cNvPr id="4" name="Text 1"/>
          <p:cNvSpPr/>
          <p:nvPr>
            <p:ph idx="102" type="body" hasCustomPrompt="1"/>
          </p:nvPr>
        </p:nvSpPr>
        <p:spPr>
          <a:xfrm>
            <a:off x="548640" y="292608"/>
            <a:ext cx="9509760" cy="274320"/>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5" name="Text 1"/>
          <p:cNvSpPr/>
          <p:nvPr>
            <p:ph idx="103" type="title" hasCustomPrompt="1"/>
          </p:nvPr>
        </p:nvSpPr>
        <p:spPr>
          <a:xfrm>
            <a:off x="548640" y="603504"/>
            <a:ext cx="960120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40280"/>
            <a:ext cx="1078992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86200"/>
            <a:ext cx="10789920" cy="45720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078992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co logo"/>
          <p:cNvSpPr/>
          <p:nvPr/>
        </p:nvSpPr>
        <p:spPr>
          <a:xfrm>
            <a:off x="548640" y="502920"/>
            <a:ext cx="3017520" cy="868680"/>
          </a:xfrm>
          <a:prstGeom prst="roundRect">
            <a:avLst>
              <a:gd name="adj" fmla="val 10526"/>
            </a:avLst>
          </a:prstGeom>
          <a:solidFill>
            <a:schemeClr val="bg1"/>
          </a:solidFill>
          <a:ln/>
        </p:spPr>
      </p:sp>
      <p:pic>
        <p:nvPicPr>
          <p:cNvPr id="3" name="Logo UTP" descr="Logo de la Universidad Tecnológica del Perú">    </p:cNvPr>
          <p:cNvPicPr>
            <a:picLocks noChangeAspect="1"/>
          </p:cNvPicPr>
          <p:nvPr/>
        </p:nvPicPr>
        <p:blipFill>
          <a:blip r:embed="rId1"/>
          <a:stretch>
            <a:fillRect/>
          </a:stretch>
        </p:blipFill>
        <p:spPr>
          <a:xfrm>
            <a:off x="731520" y="630936"/>
            <a:ext cx="2651760" cy="599846"/>
          </a:xfrm>
          <a:prstGeom prst="rect">
            <a:avLst/>
          </a:prstGeom>
        </p:spPr>
      </p:pic>
      <p:sp>
        <p:nvSpPr>
          <p:cNvPr id="4" name="Texto 1"/>
          <p:cNvSpPr txBox="1"/>
          <p:nvPr/>
        </p:nvSpPr>
        <p:spPr>
          <a:xfrm>
            <a:off x="548640" y="1691640"/>
            <a:ext cx="10789920" cy="365760"/>
          </a:xfrm>
          <a:prstGeom prst="rect">
            <a:avLst/>
          </a:prstGeom>
          <a:noFill/>
          <a:ln/>
        </p:spPr>
        <p:txBody>
          <a:bodyPr wrap="square" lIns="0" tIns="0" rIns="0" bIns="0" rtlCol="0" anchor="t"/>
          <a:lstStyle/>
          <a:p>
            <a:pPr indent="0" marL="0">
              <a:buNone/>
            </a:pPr>
            <a:r>
              <a:rPr lang="en-US" sz="1400" dirty="0">
                <a:solidFill>
                  <a:schemeClr val="accent1"/>
                </a:solidFill>
              </a:rPr>
              <a:t>Facultad de Ingeniería · Carrera Profesional de Ingeniería de Sistemas e Informática</a:t>
            </a:r>
            <a:endParaRPr lang="en-US" sz="1400" dirty="0"/>
          </a:p>
        </p:txBody>
      </p:sp>
      <p:sp>
        <p:nvSpPr>
          <p:cNvPr id="5" name="Text 0"/>
          <p:cNvSpPr/>
          <p:nvPr>
            <p:ph idx="100" type="title" hasCustomPrompt="1"/>
          </p:nvPr>
        </p:nvSpPr>
        <p:spPr>
          <a:xfrm>
            <a:off x="548640" y="2240280"/>
            <a:ext cx="10789920" cy="1554480"/>
          </a:xfrm>
          <a:prstGeom prst="rect">
            <a:avLst/>
          </a:prstGeom>
          <a:noFill/>
          <a:ln/>
        </p:spPr>
        <p:txBody>
          <a:bodyPr wrap="square" lIns="0" tIns="0" rIns="0" bIns="0" rtlCol="0" anchor="t"/>
          <a:lstStyle/>
          <a:p>
            <a:pPr algn="l" indent="0" marL="0">
              <a:buNone/>
            </a:pPr>
            <a:r>
              <a:rPr lang="en-US" sz="4000" b="1" dirty="0">
                <a:solidFill>
                  <a:schemeClr val="bg1"/>
                </a:solidFill>
              </a:rPr>
              <a:t>Agente de Telemetría y Monitor de Recursos del Sistema</a:t>
            </a:r>
            <a:endParaRPr lang="en-US" sz="4000" dirty="0"/>
          </a:p>
        </p:txBody>
      </p:sp>
      <p:sp>
        <p:nvSpPr>
          <p:cNvPr id="6" name="Text 0"/>
          <p:cNvSpPr/>
          <p:nvPr>
            <p:ph idx="101" type="body" hasCustomPrompt="1"/>
          </p:nvPr>
        </p:nvSpPr>
        <p:spPr>
          <a:xfrm>
            <a:off x="548640" y="3886200"/>
            <a:ext cx="10789920" cy="457200"/>
          </a:xfrm>
          <a:prstGeom prst="rect">
            <a:avLst/>
          </a:prstGeom>
          <a:noFill/>
          <a:ln/>
        </p:spPr>
        <p:txBody>
          <a:bodyPr wrap="square" lIns="0" tIns="0" rIns="0" bIns="0" rtlCol="0" anchor="t"/>
          <a:lstStyle/>
          <a:p>
            <a:pPr indent="0" marL="0">
              <a:buNone/>
            </a:pPr>
            <a:r>
              <a:rPr lang="en-US" sz="1800" dirty="0">
                <a:solidFill>
                  <a:schemeClr val="accent1"/>
                </a:solidFill>
              </a:rPr>
              <a:t>Programación de Interfaces y Dispositivos Periféricos · Avance 2 (Semana 10)</a:t>
            </a:r>
            <a:endParaRPr lang="en-US" sz="1800" dirty="0"/>
          </a:p>
        </p:txBody>
      </p:sp>
      <p:sp>
        <p:nvSpPr>
          <p:cNvPr id="7" name="Texto 2"/>
          <p:cNvSpPr txBox="1"/>
          <p:nvPr/>
        </p:nvSpPr>
        <p:spPr>
          <a:xfrm>
            <a:off x="548640" y="470916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INTEGRANTES</a:t>
            </a:r>
            <a:endParaRPr lang="en-US" sz="1200" dirty="0"/>
          </a:p>
        </p:txBody>
      </p:sp>
      <p:sp>
        <p:nvSpPr>
          <p:cNvPr id="8" name="Texto 3"/>
          <p:cNvSpPr txBox="1"/>
          <p:nvPr/>
        </p:nvSpPr>
        <p:spPr>
          <a:xfrm>
            <a:off x="548640" y="5029200"/>
            <a:ext cx="5943600" cy="13716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Gonzales Ramos, Juan Diego</a:t>
            </a:r>
            <a:endParaRPr lang="en-US" sz="1400" dirty="0"/>
          </a:p>
          <a:p>
            <a:pPr marL="342900" indent="-342900">
              <a:spcAft>
                <a:spcPts val="300"/>
              </a:spcAft>
              <a:buSzPct val="100000"/>
              <a:buChar char="•"/>
            </a:pPr>
            <a:r>
              <a:rPr lang="en-US" sz="1400" dirty="0">
                <a:solidFill>
                  <a:schemeClr val="bg1"/>
                </a:solidFill>
              </a:rPr>
              <a:t>Hernandez Mendoza, Axel</a:t>
            </a:r>
            <a:endParaRPr lang="en-US" sz="1400" dirty="0"/>
          </a:p>
          <a:p>
            <a:pPr marL="342900" indent="-342900">
              <a:spcAft>
                <a:spcPts val="300"/>
              </a:spcAft>
              <a:buSzPct val="100000"/>
              <a:buChar char="•"/>
            </a:pPr>
            <a:r>
              <a:rPr lang="en-US" sz="1400" dirty="0">
                <a:solidFill>
                  <a:schemeClr val="bg1"/>
                </a:solidFill>
              </a:rPr>
              <a:t>Daorta Díaz, Mack</a:t>
            </a:r>
            <a:endParaRPr lang="en-US" sz="1400" dirty="0"/>
          </a:p>
          <a:p>
            <a:pPr marL="342900" indent="-342900">
              <a:spcAft>
                <a:spcPts val="300"/>
              </a:spcAft>
              <a:buSzPct val="100000"/>
              <a:buChar char="•"/>
            </a:pPr>
            <a:r>
              <a:rPr lang="en-US" sz="1400" dirty="0">
                <a:solidFill>
                  <a:schemeClr val="bg1"/>
                </a:solidFill>
              </a:rPr>
              <a:t>Arias Del Castillo, Johnny Harif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CONTENIDO</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Agenda</a:t>
            </a:r>
            <a:endParaRPr lang="en-US" sz="3600" dirty="0"/>
          </a:p>
        </p:txBody>
      </p:sp>
      <p:sp>
        <p:nvSpPr>
          <p:cNvPr id="4" name="Tarjeta 4"/>
          <p:cNvSpPr/>
          <p:nvPr/>
        </p:nvSpPr>
        <p:spPr>
          <a:xfrm>
            <a:off x="548640" y="1691640"/>
            <a:ext cx="11064240" cy="548640"/>
          </a:xfrm>
          <a:prstGeom prst="roundRect">
            <a:avLst>
              <a:gd name="adj" fmla="val 16667"/>
            </a:avLst>
          </a:prstGeom>
          <a:solidFill>
            <a:schemeClr val="bg2"/>
          </a:solidFill>
          <a:ln/>
        </p:spPr>
      </p:sp>
      <p:sp>
        <p:nvSpPr>
          <p:cNvPr id="5" name="Insignia 5"/>
          <p:cNvSpPr/>
          <p:nvPr/>
        </p:nvSpPr>
        <p:spPr>
          <a:xfrm>
            <a:off x="685800" y="1746504"/>
            <a:ext cx="438912" cy="438912"/>
          </a:xfrm>
          <a:prstGeom prst="ellipse">
            <a:avLst/>
          </a:prstGeom>
          <a:solidFill>
            <a:schemeClr val="tx2"/>
          </a:solidFill>
          <a:ln/>
        </p:spPr>
      </p:sp>
      <p:sp>
        <p:nvSpPr>
          <p:cNvPr id="6" name="Insignia texto 6"/>
          <p:cNvSpPr txBox="1"/>
          <p:nvPr/>
        </p:nvSpPr>
        <p:spPr>
          <a:xfrm>
            <a:off x="685800" y="174650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o 7"/>
          <p:cNvSpPr txBox="1"/>
          <p:nvPr/>
        </p:nvSpPr>
        <p:spPr>
          <a:xfrm>
            <a:off x="1325880" y="1691640"/>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Caso propuesto y problemática</a:t>
            </a:r>
            <a:endParaRPr lang="en-US" sz="2000" dirty="0"/>
          </a:p>
        </p:txBody>
      </p:sp>
      <p:sp>
        <p:nvSpPr>
          <p:cNvPr id="8" name="Texto 8"/>
          <p:cNvSpPr txBox="1"/>
          <p:nvPr/>
        </p:nvSpPr>
        <p:spPr>
          <a:xfrm>
            <a:off x="7315200" y="1691640"/>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Qué construimos y por qué</a:t>
            </a:r>
            <a:endParaRPr lang="en-US" sz="1400" dirty="0"/>
          </a:p>
        </p:txBody>
      </p:sp>
      <p:sp>
        <p:nvSpPr>
          <p:cNvPr id="9" name="Tarjeta 9"/>
          <p:cNvSpPr/>
          <p:nvPr/>
        </p:nvSpPr>
        <p:spPr>
          <a:xfrm>
            <a:off x="548640" y="2350008"/>
            <a:ext cx="11064240" cy="548640"/>
          </a:xfrm>
          <a:prstGeom prst="roundRect">
            <a:avLst>
              <a:gd name="adj" fmla="val 16667"/>
            </a:avLst>
          </a:prstGeom>
          <a:solidFill>
            <a:schemeClr val="bg1"/>
          </a:solidFill>
          <a:ln w="15875">
            <a:solidFill>
              <a:schemeClr val="bg2"/>
            </a:solidFill>
            <a:prstDash val="solid"/>
          </a:ln>
        </p:spPr>
      </p:sp>
      <p:sp>
        <p:nvSpPr>
          <p:cNvPr id="10" name="Insignia 10"/>
          <p:cNvSpPr/>
          <p:nvPr/>
        </p:nvSpPr>
        <p:spPr>
          <a:xfrm>
            <a:off x="685800" y="2404872"/>
            <a:ext cx="438912" cy="438912"/>
          </a:xfrm>
          <a:prstGeom prst="ellipse">
            <a:avLst/>
          </a:prstGeom>
          <a:solidFill>
            <a:schemeClr val="tx2"/>
          </a:solidFill>
          <a:ln/>
        </p:spPr>
      </p:sp>
      <p:sp>
        <p:nvSpPr>
          <p:cNvPr id="11" name="Insignia texto 11"/>
          <p:cNvSpPr txBox="1"/>
          <p:nvPr/>
        </p:nvSpPr>
        <p:spPr>
          <a:xfrm>
            <a:off x="685800" y="240487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o 12"/>
          <p:cNvSpPr txBox="1"/>
          <p:nvPr/>
        </p:nvSpPr>
        <p:spPr>
          <a:xfrm>
            <a:off x="1325880" y="2350008"/>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Objetivos, alcance y actores</a:t>
            </a:r>
            <a:endParaRPr lang="en-US" sz="2000" dirty="0"/>
          </a:p>
        </p:txBody>
      </p:sp>
      <p:sp>
        <p:nvSpPr>
          <p:cNvPr id="13" name="Texto 13"/>
          <p:cNvSpPr txBox="1"/>
          <p:nvPr/>
        </p:nvSpPr>
        <p:spPr>
          <a:xfrm>
            <a:off x="7315200" y="2350008"/>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Metas, qué entra y quién participa</a:t>
            </a:r>
            <a:endParaRPr lang="en-US" sz="1400" dirty="0"/>
          </a:p>
        </p:txBody>
      </p:sp>
      <p:sp>
        <p:nvSpPr>
          <p:cNvPr id="14" name="Tarjeta 14"/>
          <p:cNvSpPr/>
          <p:nvPr/>
        </p:nvSpPr>
        <p:spPr>
          <a:xfrm>
            <a:off x="548640" y="3008376"/>
            <a:ext cx="11064240" cy="548640"/>
          </a:xfrm>
          <a:prstGeom prst="roundRect">
            <a:avLst>
              <a:gd name="adj" fmla="val 16667"/>
            </a:avLst>
          </a:prstGeom>
          <a:solidFill>
            <a:schemeClr val="bg2"/>
          </a:solidFill>
          <a:ln/>
        </p:spPr>
      </p:sp>
      <p:sp>
        <p:nvSpPr>
          <p:cNvPr id="15" name="Insignia 15"/>
          <p:cNvSpPr/>
          <p:nvPr/>
        </p:nvSpPr>
        <p:spPr>
          <a:xfrm>
            <a:off x="685800" y="3063240"/>
            <a:ext cx="438912" cy="438912"/>
          </a:xfrm>
          <a:prstGeom prst="ellipse">
            <a:avLst/>
          </a:prstGeom>
          <a:solidFill>
            <a:schemeClr val="tx2"/>
          </a:solidFill>
          <a:ln/>
        </p:spPr>
      </p:sp>
      <p:sp>
        <p:nvSpPr>
          <p:cNvPr id="16" name="Insignia texto 16"/>
          <p:cNvSpPr txBox="1"/>
          <p:nvPr/>
        </p:nvSpPr>
        <p:spPr>
          <a:xfrm>
            <a:off x="685800" y="306324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o 17"/>
          <p:cNvSpPr txBox="1"/>
          <p:nvPr/>
        </p:nvSpPr>
        <p:spPr>
          <a:xfrm>
            <a:off x="1325880" y="3008376"/>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Requerimientos funcionales y no funcionales</a:t>
            </a:r>
            <a:endParaRPr lang="en-US" sz="2000" dirty="0"/>
          </a:p>
        </p:txBody>
      </p:sp>
      <p:sp>
        <p:nvSpPr>
          <p:cNvPr id="18" name="Texto 18"/>
          <p:cNvSpPr txBox="1"/>
          <p:nvPr/>
        </p:nvSpPr>
        <p:spPr>
          <a:xfrm>
            <a:off x="7315200" y="3008376"/>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Qué debe hacer y cómo debe comportarse</a:t>
            </a:r>
            <a:endParaRPr lang="en-US" sz="1400" dirty="0"/>
          </a:p>
        </p:txBody>
      </p:sp>
      <p:sp>
        <p:nvSpPr>
          <p:cNvPr id="19" name="Tarjeta 19"/>
          <p:cNvSpPr/>
          <p:nvPr/>
        </p:nvSpPr>
        <p:spPr>
          <a:xfrm>
            <a:off x="548640" y="3666744"/>
            <a:ext cx="11064240" cy="548640"/>
          </a:xfrm>
          <a:prstGeom prst="roundRect">
            <a:avLst>
              <a:gd name="adj" fmla="val 16667"/>
            </a:avLst>
          </a:prstGeom>
          <a:solidFill>
            <a:schemeClr val="bg1"/>
          </a:solidFill>
          <a:ln w="15875">
            <a:solidFill>
              <a:schemeClr val="bg2"/>
            </a:solidFill>
            <a:prstDash val="solid"/>
          </a:ln>
        </p:spPr>
      </p:sp>
      <p:sp>
        <p:nvSpPr>
          <p:cNvPr id="20" name="Insignia 20"/>
          <p:cNvSpPr/>
          <p:nvPr/>
        </p:nvSpPr>
        <p:spPr>
          <a:xfrm>
            <a:off x="685800" y="3721608"/>
            <a:ext cx="438912" cy="438912"/>
          </a:xfrm>
          <a:prstGeom prst="ellipse">
            <a:avLst/>
          </a:prstGeom>
          <a:solidFill>
            <a:schemeClr val="tx2"/>
          </a:solidFill>
          <a:ln/>
        </p:spPr>
      </p:sp>
      <p:sp>
        <p:nvSpPr>
          <p:cNvPr id="21" name="Insignia texto 21"/>
          <p:cNvSpPr txBox="1"/>
          <p:nvPr/>
        </p:nvSpPr>
        <p:spPr>
          <a:xfrm>
            <a:off x="685800" y="372160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o 22"/>
          <p:cNvSpPr txBox="1"/>
          <p:nvPr/>
        </p:nvSpPr>
        <p:spPr>
          <a:xfrm>
            <a:off x="1325880" y="3666744"/>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Flujos y mockups</a:t>
            </a:r>
            <a:endParaRPr lang="en-US" sz="2000" dirty="0"/>
          </a:p>
        </p:txBody>
      </p:sp>
      <p:sp>
        <p:nvSpPr>
          <p:cNvPr id="23" name="Texto 23"/>
          <p:cNvSpPr txBox="1"/>
          <p:nvPr/>
        </p:nvSpPr>
        <p:spPr>
          <a:xfrm>
            <a:off x="7315200" y="3666744"/>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Recorrido del sistema y pantallas con DCU</a:t>
            </a:r>
            <a:endParaRPr lang="en-US" sz="1400" dirty="0"/>
          </a:p>
        </p:txBody>
      </p:sp>
      <p:sp>
        <p:nvSpPr>
          <p:cNvPr id="24" name="Tarjeta 24"/>
          <p:cNvSpPr/>
          <p:nvPr/>
        </p:nvSpPr>
        <p:spPr>
          <a:xfrm>
            <a:off x="548640" y="4325112"/>
            <a:ext cx="11064240" cy="548640"/>
          </a:xfrm>
          <a:prstGeom prst="roundRect">
            <a:avLst>
              <a:gd name="adj" fmla="val 16667"/>
            </a:avLst>
          </a:prstGeom>
          <a:solidFill>
            <a:schemeClr val="bg2"/>
          </a:solidFill>
          <a:ln/>
        </p:spPr>
      </p:sp>
      <p:sp>
        <p:nvSpPr>
          <p:cNvPr id="25" name="Insignia 25"/>
          <p:cNvSpPr/>
          <p:nvPr/>
        </p:nvSpPr>
        <p:spPr>
          <a:xfrm>
            <a:off x="685800" y="4379976"/>
            <a:ext cx="438912" cy="438912"/>
          </a:xfrm>
          <a:prstGeom prst="ellipse">
            <a:avLst/>
          </a:prstGeom>
          <a:solidFill>
            <a:schemeClr val="tx2"/>
          </a:solidFill>
          <a:ln/>
        </p:spPr>
      </p:sp>
      <p:sp>
        <p:nvSpPr>
          <p:cNvPr id="26" name="Insignia texto 26"/>
          <p:cNvSpPr txBox="1"/>
          <p:nvPr/>
        </p:nvSpPr>
        <p:spPr>
          <a:xfrm>
            <a:off x="685800" y="4379976"/>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o 27"/>
          <p:cNvSpPr txBox="1"/>
          <p:nvPr/>
        </p:nvSpPr>
        <p:spPr>
          <a:xfrm>
            <a:off x="1325880" y="4325112"/>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Arquitectura del proyecto</a:t>
            </a:r>
            <a:endParaRPr lang="en-US" sz="2000" dirty="0"/>
          </a:p>
        </p:txBody>
      </p:sp>
      <p:sp>
        <p:nvSpPr>
          <p:cNvPr id="28" name="Texto 28"/>
          <p:cNvSpPr txBox="1"/>
          <p:nvPr/>
        </p:nvSpPr>
        <p:spPr>
          <a:xfrm>
            <a:off x="7315200" y="4325112"/>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MVC con Django, stack y decisiones</a:t>
            </a:r>
            <a:endParaRPr lang="en-US" sz="1400" dirty="0"/>
          </a:p>
        </p:txBody>
      </p:sp>
      <p:sp>
        <p:nvSpPr>
          <p:cNvPr id="29" name="Tarjeta 29"/>
          <p:cNvSpPr/>
          <p:nvPr/>
        </p:nvSpPr>
        <p:spPr>
          <a:xfrm>
            <a:off x="548640" y="4983480"/>
            <a:ext cx="11064240" cy="548640"/>
          </a:xfrm>
          <a:prstGeom prst="roundRect">
            <a:avLst>
              <a:gd name="adj" fmla="val 16667"/>
            </a:avLst>
          </a:prstGeom>
          <a:solidFill>
            <a:schemeClr val="bg1"/>
          </a:solidFill>
          <a:ln w="15875">
            <a:solidFill>
              <a:schemeClr val="bg2"/>
            </a:solidFill>
            <a:prstDash val="solid"/>
          </a:ln>
        </p:spPr>
      </p:sp>
      <p:sp>
        <p:nvSpPr>
          <p:cNvPr id="30" name="Insignia 30"/>
          <p:cNvSpPr/>
          <p:nvPr/>
        </p:nvSpPr>
        <p:spPr>
          <a:xfrm>
            <a:off x="685800" y="5038344"/>
            <a:ext cx="438912" cy="438912"/>
          </a:xfrm>
          <a:prstGeom prst="ellipse">
            <a:avLst/>
          </a:prstGeom>
          <a:solidFill>
            <a:schemeClr val="tx2"/>
          </a:solidFill>
          <a:ln/>
        </p:spPr>
      </p:sp>
      <p:sp>
        <p:nvSpPr>
          <p:cNvPr id="31" name="Insignia texto 31"/>
          <p:cNvSpPr txBox="1"/>
          <p:nvPr/>
        </p:nvSpPr>
        <p:spPr>
          <a:xfrm>
            <a:off x="685800" y="503834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o 32"/>
          <p:cNvSpPr txBox="1"/>
          <p:nvPr/>
        </p:nvSpPr>
        <p:spPr>
          <a:xfrm>
            <a:off x="1325880" y="4983480"/>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Base de datos y relación de tablas</a:t>
            </a:r>
            <a:endParaRPr lang="en-US" sz="2000" dirty="0"/>
          </a:p>
        </p:txBody>
      </p:sp>
      <p:sp>
        <p:nvSpPr>
          <p:cNvPr id="33" name="Texto 33"/>
          <p:cNvSpPr txBox="1"/>
          <p:nvPr/>
        </p:nvSpPr>
        <p:spPr>
          <a:xfrm>
            <a:off x="7315200" y="4983480"/>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Tablas, campos y relaciones</a:t>
            </a:r>
            <a:endParaRPr lang="en-US" sz="1400" dirty="0"/>
          </a:p>
        </p:txBody>
      </p:sp>
      <p:sp>
        <p:nvSpPr>
          <p:cNvPr id="34" name="Tarjeta 34"/>
          <p:cNvSpPr/>
          <p:nvPr/>
        </p:nvSpPr>
        <p:spPr>
          <a:xfrm>
            <a:off x="548640" y="5641848"/>
            <a:ext cx="11064240" cy="548640"/>
          </a:xfrm>
          <a:prstGeom prst="roundRect">
            <a:avLst>
              <a:gd name="adj" fmla="val 16667"/>
            </a:avLst>
          </a:prstGeom>
          <a:solidFill>
            <a:schemeClr val="bg2"/>
          </a:solidFill>
          <a:ln/>
        </p:spPr>
      </p:sp>
      <p:sp>
        <p:nvSpPr>
          <p:cNvPr id="35" name="Insignia 35"/>
          <p:cNvSpPr/>
          <p:nvPr/>
        </p:nvSpPr>
        <p:spPr>
          <a:xfrm>
            <a:off x="685800" y="5696712"/>
            <a:ext cx="438912" cy="438912"/>
          </a:xfrm>
          <a:prstGeom prst="ellipse">
            <a:avLst/>
          </a:prstGeom>
          <a:solidFill>
            <a:schemeClr val="tx2"/>
          </a:solidFill>
          <a:ln/>
        </p:spPr>
      </p:sp>
      <p:sp>
        <p:nvSpPr>
          <p:cNvPr id="36" name="Insignia texto 36"/>
          <p:cNvSpPr txBox="1"/>
          <p:nvPr/>
        </p:nvSpPr>
        <p:spPr>
          <a:xfrm>
            <a:off x="685800" y="569671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7" name="Texto 37"/>
          <p:cNvSpPr txBox="1"/>
          <p:nvPr/>
        </p:nvSpPr>
        <p:spPr>
          <a:xfrm>
            <a:off x="1325880" y="5641848"/>
            <a:ext cx="6035040" cy="548640"/>
          </a:xfrm>
          <a:prstGeom prst="rect">
            <a:avLst/>
          </a:prstGeom>
          <a:noFill/>
          <a:ln/>
        </p:spPr>
        <p:txBody>
          <a:bodyPr wrap="square" lIns="0" tIns="0" rIns="0" bIns="0" rtlCol="0" anchor="ctr"/>
          <a:lstStyle/>
          <a:p>
            <a:pPr indent="0" marL="0">
              <a:buNone/>
            </a:pPr>
            <a:r>
              <a:rPr lang="en-US" sz="2000" b="1" dirty="0">
                <a:solidFill>
                  <a:schemeClr val="tx2"/>
                </a:solidFill>
              </a:rPr>
              <a:t>Planning general y gestión de sprints</a:t>
            </a:r>
            <a:endParaRPr lang="en-US" sz="2000" dirty="0"/>
          </a:p>
        </p:txBody>
      </p:sp>
      <p:sp>
        <p:nvSpPr>
          <p:cNvPr id="38" name="Texto 38"/>
          <p:cNvSpPr txBox="1"/>
          <p:nvPr/>
        </p:nvSpPr>
        <p:spPr>
          <a:xfrm>
            <a:off x="7315200" y="5641848"/>
            <a:ext cx="4206240" cy="548640"/>
          </a:xfrm>
          <a:prstGeom prst="rect">
            <a:avLst/>
          </a:prstGeom>
          <a:noFill/>
          <a:ln/>
        </p:spPr>
        <p:txBody>
          <a:bodyPr wrap="square" lIns="0" tIns="0" rIns="0" bIns="0" rtlCol="0" anchor="ctr"/>
          <a:lstStyle/>
          <a:p>
            <a:pPr indent="0" marL="0">
              <a:buNone/>
            </a:pPr>
            <a:r>
              <a:rPr lang="en-US" sz="1400" dirty="0">
                <a:solidFill>
                  <a:schemeClr val="accent6"/>
                </a:solidFill>
              </a:rPr>
              <a:t>Sprints, backlog y riesgos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1 · CASO PROPUESTO Y PROBLEMÁTICA</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Caso propuesto y problemática</a:t>
            </a:r>
            <a:endParaRPr lang="en-US" sz="3600" dirty="0"/>
          </a:p>
        </p:txBody>
      </p:sp>
      <p:sp>
        <p:nvSpPr>
          <p:cNvPr id="4" name="Tarjeta 39"/>
          <p:cNvSpPr/>
          <p:nvPr/>
        </p:nvSpPr>
        <p:spPr>
          <a:xfrm>
            <a:off x="548640" y="1691640"/>
            <a:ext cx="5394960" cy="3611880"/>
          </a:xfrm>
          <a:prstGeom prst="roundRect">
            <a:avLst>
              <a:gd name="adj" fmla="val 2532"/>
            </a:avLst>
          </a:prstGeom>
          <a:solidFill>
            <a:schemeClr val="bg2"/>
          </a:solidFill>
          <a:ln/>
        </p:spPr>
      </p:sp>
      <p:sp>
        <p:nvSpPr>
          <p:cNvPr id="5" name="Tarjeta 40"/>
          <p:cNvSpPr/>
          <p:nvPr/>
        </p:nvSpPr>
        <p:spPr>
          <a:xfrm>
            <a:off x="6217920" y="1691640"/>
            <a:ext cx="5394960" cy="3611880"/>
          </a:xfrm>
          <a:prstGeom prst="roundRect">
            <a:avLst>
              <a:gd name="adj" fmla="val 2532"/>
            </a:avLst>
          </a:prstGeom>
          <a:solidFill>
            <a:schemeClr val="bg2"/>
          </a:solidFill>
          <a:ln/>
        </p:spPr>
      </p:sp>
      <p:sp>
        <p:nvSpPr>
          <p:cNvPr id="6" name="Icono fondo 41"/>
          <p:cNvSpPr/>
          <p:nvPr/>
        </p:nvSpPr>
        <p:spPr>
          <a:xfrm>
            <a:off x="868680" y="2011680"/>
            <a:ext cx="640080" cy="640080"/>
          </a:xfrm>
          <a:prstGeom prst="ellipse">
            <a:avLst/>
          </a:prstGeom>
          <a:solidFill>
            <a:schemeClr val="accent4"/>
          </a:solidFill>
          <a:ln/>
        </p:spPr>
      </p:sp>
      <p:pic>
        <p:nvPicPr>
          <p:cNvPr id="7" name="Icono 42" descr="FaLaptopCode">    </p:cNvPr>
          <p:cNvPicPr>
            <a:picLocks noChangeAspect="1"/>
          </p:cNvPicPr>
          <p:nvPr/>
        </p:nvPicPr>
        <p:blipFill>
          <a:blip r:embed="rId1"/>
          <a:stretch>
            <a:fillRect/>
          </a:stretch>
        </p:blipFill>
        <p:spPr>
          <a:xfrm>
            <a:off x="1028700" y="2171700"/>
            <a:ext cx="320040" cy="320040"/>
          </a:xfrm>
          <a:prstGeom prst="rect">
            <a:avLst/>
          </a:prstGeom>
        </p:spPr>
      </p:pic>
      <p:sp>
        <p:nvSpPr>
          <p:cNvPr id="8" name="Icono fondo 43"/>
          <p:cNvSpPr/>
          <p:nvPr/>
        </p:nvSpPr>
        <p:spPr>
          <a:xfrm>
            <a:off x="6537960" y="2011680"/>
            <a:ext cx="640080" cy="640080"/>
          </a:xfrm>
          <a:prstGeom prst="ellipse">
            <a:avLst/>
          </a:prstGeom>
          <a:solidFill>
            <a:schemeClr val="accent3"/>
          </a:solidFill>
          <a:ln/>
        </p:spPr>
      </p:sp>
      <p:pic>
        <p:nvPicPr>
          <p:cNvPr id="9" name="Icono 44" descr="FaExclamationTriangle">    </p:cNvPr>
          <p:cNvPicPr>
            <a:picLocks noChangeAspect="1"/>
          </p:cNvPicPr>
          <p:nvPr/>
        </p:nvPicPr>
        <p:blipFill>
          <a:blip r:embed="rId2"/>
          <a:stretch>
            <a:fillRect/>
          </a:stretch>
        </p:blipFill>
        <p:spPr>
          <a:xfrm>
            <a:off x="6697980" y="2171700"/>
            <a:ext cx="320040" cy="320040"/>
          </a:xfrm>
          <a:prstGeom prst="rect">
            <a:avLst/>
          </a:prstGeom>
        </p:spPr>
      </p:pic>
      <p:sp>
        <p:nvSpPr>
          <p:cNvPr id="10" name="Texto 45"/>
          <p:cNvSpPr txBox="1"/>
          <p:nvPr/>
        </p:nvSpPr>
        <p:spPr>
          <a:xfrm>
            <a:off x="1737360" y="2103120"/>
            <a:ext cx="3931920" cy="457200"/>
          </a:xfrm>
          <a:prstGeom prst="rect">
            <a:avLst/>
          </a:prstGeom>
          <a:noFill/>
          <a:ln/>
        </p:spPr>
        <p:txBody>
          <a:bodyPr wrap="square" lIns="0" tIns="0" rIns="0" bIns="0" rtlCol="0" anchor="ctr"/>
          <a:lstStyle/>
          <a:p>
            <a:pPr indent="0" marL="0">
              <a:buNone/>
            </a:pPr>
            <a:r>
              <a:rPr lang="en-US" sz="2000" b="1" dirty="0">
                <a:solidFill>
                  <a:schemeClr val="tx2"/>
                </a:solidFill>
              </a:rPr>
              <a:t>Caso propuesto</a:t>
            </a:r>
            <a:endParaRPr lang="en-US" sz="2000" dirty="0"/>
          </a:p>
        </p:txBody>
      </p:sp>
      <p:sp>
        <p:nvSpPr>
          <p:cNvPr id="11" name="Texto 46"/>
          <p:cNvSpPr txBox="1"/>
          <p:nvPr/>
        </p:nvSpPr>
        <p:spPr>
          <a:xfrm>
            <a:off x="7406640" y="2103120"/>
            <a:ext cx="3931920" cy="457200"/>
          </a:xfrm>
          <a:prstGeom prst="rect">
            <a:avLst/>
          </a:prstGeom>
          <a:noFill/>
          <a:ln/>
        </p:spPr>
        <p:txBody>
          <a:bodyPr wrap="square" lIns="0" tIns="0" rIns="0" bIns="0" rtlCol="0" anchor="ctr"/>
          <a:lstStyle/>
          <a:p>
            <a:pPr indent="0" marL="0">
              <a:buNone/>
            </a:pPr>
            <a:r>
              <a:rPr lang="en-US" sz="2000" b="1" dirty="0">
                <a:solidFill>
                  <a:schemeClr val="tx2"/>
                </a:solidFill>
              </a:rPr>
              <a:t>Problemática</a:t>
            </a:r>
            <a:endParaRPr lang="en-US" sz="2000" dirty="0"/>
          </a:p>
        </p:txBody>
      </p:sp>
      <p:sp>
        <p:nvSpPr>
          <p:cNvPr id="12" name="Texto 47"/>
          <p:cNvSpPr txBox="1"/>
          <p:nvPr/>
        </p:nvSpPr>
        <p:spPr>
          <a:xfrm>
            <a:off x="868680" y="2926080"/>
            <a:ext cx="4754880" cy="224028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Aplicación web con Django (MVC) que monitorea CPU, RAM, disco y batería de los equipos registrados, genera alertas por umbral y guarda el historial.</a:t>
            </a:r>
            <a:endParaRPr lang="en-US" sz="1600" dirty="0"/>
          </a:p>
          <a:p>
            <a:pPr indent="0" marL="0">
              <a:buNone/>
            </a:pPr>
            <a:r>
              <a:rPr lang="en-US" sz="1600" b="1" dirty="0">
                <a:solidFill>
                  <a:schemeClr val="tx1"/>
                </a:solidFill>
              </a:rPr>
              <a:t>Antecedente: </a:t>
            </a:r>
            <a:pPr indent="0" marL="0">
              <a:buNone/>
            </a:pPr>
            <a:r>
              <a:rPr lang="en-US" sz="1600" dirty="0">
                <a:solidFill>
                  <a:schemeClr val="tx1"/>
                </a:solidFill>
              </a:rPr>
              <a:t>script de consola con psutil (Avance 1), reutilizado como agente dentro de la web.</a:t>
            </a:r>
            <a:endParaRPr lang="en-US" sz="1600" dirty="0"/>
          </a:p>
        </p:txBody>
      </p:sp>
      <p:sp>
        <p:nvSpPr>
          <p:cNvPr id="13" name="Texto 48"/>
          <p:cNvSpPr txBox="1"/>
          <p:nvPr/>
        </p:nvSpPr>
        <p:spPr>
          <a:xfrm>
            <a:off x="6537960" y="2926080"/>
            <a:ext cx="4754880" cy="224028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Los equipos de TI deben supervisar servidores y PCs para prevenir caídas antes de que afecten a los usuarios.</a:t>
            </a:r>
            <a:endParaRPr lang="en-US" sz="1600" dirty="0"/>
          </a:p>
          <a:p>
            <a:pPr indent="0" marL="0">
              <a:spcAft>
                <a:spcPts val="1000"/>
              </a:spcAft>
              <a:buNone/>
            </a:pPr>
            <a:r>
              <a:rPr lang="en-US" sz="1600" dirty="0">
                <a:solidFill>
                  <a:schemeClr val="tx1"/>
                </a:solidFill>
              </a:rPr>
              <a:t>Hoy se hace de forma manual o con herramientas de terceros poco flexibles.</a:t>
            </a:r>
            <a:endParaRPr lang="en-US" sz="1600" dirty="0"/>
          </a:p>
          <a:p>
            <a:pPr indent="0" marL="0">
              <a:buNone/>
            </a:pPr>
            <a:r>
              <a:rPr lang="en-US" sz="1600" b="1" dirty="0">
                <a:solidFill>
                  <a:schemeClr val="tx1"/>
                </a:solidFill>
              </a:rPr>
              <a:t>Propuesta: </a:t>
            </a:r>
            <a:pPr indent="0" marL="0">
              <a:buNone/>
            </a:pPr>
            <a:r>
              <a:rPr lang="en-US" sz="1600" dirty="0">
                <a:solidFill>
                  <a:schemeClr val="tx1"/>
                </a:solidFill>
              </a:rPr>
              <a:t>centralizar el monitoreo en una web con alertas e historial.</a:t>
            </a:r>
            <a:endParaRPr lang="en-US" sz="1600" dirty="0"/>
          </a:p>
        </p:txBody>
      </p:sp>
      <p:sp>
        <p:nvSpPr>
          <p:cNvPr id="14" name="Tarjeta 49"/>
          <p:cNvSpPr/>
          <p:nvPr/>
        </p:nvSpPr>
        <p:spPr>
          <a:xfrm>
            <a:off x="548640" y="5532120"/>
            <a:ext cx="11064240" cy="685800"/>
          </a:xfrm>
          <a:prstGeom prst="roundRect">
            <a:avLst>
              <a:gd name="adj" fmla="val 13333"/>
            </a:avLst>
          </a:prstGeom>
          <a:solidFill>
            <a:schemeClr val="tx2"/>
          </a:solidFill>
          <a:ln/>
        </p:spPr>
      </p:sp>
      <p:sp>
        <p:nvSpPr>
          <p:cNvPr id="15" name="Texto 50"/>
          <p:cNvSpPr txBox="1"/>
          <p:nvPr/>
        </p:nvSpPr>
        <p:spPr>
          <a:xfrm>
            <a:off x="914400" y="5532120"/>
            <a:ext cx="10332720" cy="685800"/>
          </a:xfrm>
          <a:prstGeom prst="rect">
            <a:avLst/>
          </a:prstGeom>
          <a:noFill/>
          <a:ln/>
        </p:spPr>
        <p:txBody>
          <a:bodyPr wrap="square" lIns="0" tIns="0" rIns="0" bIns="0" rtlCol="0" anchor="ctr"/>
          <a:lstStyle/>
          <a:p>
            <a:pPr indent="0" marL="0">
              <a:buNone/>
            </a:pPr>
            <a:r>
              <a:rPr lang="en-US" sz="1800" b="1" dirty="0">
                <a:solidFill>
                  <a:schemeClr val="bg1"/>
                </a:solidFill>
              </a:rPr>
              <a:t>Del script de consola a una aplicación web con arquitectura MVC</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2 · OBJETIVOS, ALCANCE Y ACTORES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Objetivos del proyecto</a:t>
            </a:r>
            <a:endParaRPr lang="en-US" sz="3600" dirty="0"/>
          </a:p>
        </p:txBody>
      </p:sp>
      <p:sp>
        <p:nvSpPr>
          <p:cNvPr id="4" name="Tarjeta 51"/>
          <p:cNvSpPr/>
          <p:nvPr/>
        </p:nvSpPr>
        <p:spPr>
          <a:xfrm>
            <a:off x="548640" y="1691640"/>
            <a:ext cx="4023360" cy="4343400"/>
          </a:xfrm>
          <a:prstGeom prst="roundRect">
            <a:avLst>
              <a:gd name="adj" fmla="val 2273"/>
            </a:avLst>
          </a:prstGeom>
          <a:solidFill>
            <a:schemeClr val="tx2"/>
          </a:solidFill>
          <a:ln/>
        </p:spPr>
      </p:sp>
      <p:sp>
        <p:nvSpPr>
          <p:cNvPr id="5" name="Texto 52"/>
          <p:cNvSpPr txBox="1"/>
          <p:nvPr/>
        </p:nvSpPr>
        <p:spPr>
          <a:xfrm>
            <a:off x="914400" y="2057400"/>
            <a:ext cx="32918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OBJETIVO GENERAL</a:t>
            </a:r>
            <a:endParaRPr lang="en-US" sz="1200" dirty="0"/>
          </a:p>
        </p:txBody>
      </p:sp>
      <p:sp>
        <p:nvSpPr>
          <p:cNvPr id="6" name="Texto 53"/>
          <p:cNvSpPr txBox="1"/>
          <p:nvPr/>
        </p:nvSpPr>
        <p:spPr>
          <a:xfrm>
            <a:off x="914400" y="2468880"/>
            <a:ext cx="3291840" cy="3383280"/>
          </a:xfrm>
          <a:prstGeom prst="rect">
            <a:avLst/>
          </a:prstGeom>
          <a:noFill/>
          <a:ln/>
        </p:spPr>
        <p:txBody>
          <a:bodyPr wrap="square" lIns="0" tIns="0" rIns="0" bIns="0" rtlCol="0" anchor="t"/>
          <a:lstStyle/>
          <a:p>
            <a:pPr indent="0" marL="0">
              <a:buNone/>
            </a:pPr>
            <a:r>
              <a:rPr lang="en-US" sz="1800" dirty="0">
                <a:solidFill>
                  <a:schemeClr val="bg1"/>
                </a:solidFill>
              </a:rPr>
              <a:t>Desarrollar una aplicación web con arquitectura MVC que permita a personal de TI supervisar los recursos de sus servidores, recibir alertas y consultar el historial desde el navegador.</a:t>
            </a:r>
            <a:endParaRPr lang="en-US" sz="1800" dirty="0"/>
          </a:p>
        </p:txBody>
      </p:sp>
      <p:sp>
        <p:nvSpPr>
          <p:cNvPr id="7" name="Tarjeta 54"/>
          <p:cNvSpPr/>
          <p:nvPr/>
        </p:nvSpPr>
        <p:spPr>
          <a:xfrm>
            <a:off x="4846320" y="1691640"/>
            <a:ext cx="6766560" cy="621792"/>
          </a:xfrm>
          <a:prstGeom prst="roundRect">
            <a:avLst>
              <a:gd name="adj" fmla="val 14706"/>
            </a:avLst>
          </a:prstGeom>
          <a:solidFill>
            <a:schemeClr val="bg2"/>
          </a:solidFill>
          <a:ln/>
        </p:spPr>
      </p:sp>
      <p:sp>
        <p:nvSpPr>
          <p:cNvPr id="8" name="Insignia 55"/>
          <p:cNvSpPr/>
          <p:nvPr/>
        </p:nvSpPr>
        <p:spPr>
          <a:xfrm>
            <a:off x="4983480" y="1792224"/>
            <a:ext cx="420624" cy="420624"/>
          </a:xfrm>
          <a:prstGeom prst="ellipse">
            <a:avLst/>
          </a:prstGeom>
          <a:solidFill>
            <a:schemeClr val="accent4"/>
          </a:solidFill>
          <a:ln/>
        </p:spPr>
      </p:sp>
      <p:sp>
        <p:nvSpPr>
          <p:cNvPr id="9" name="Insignia texto 56"/>
          <p:cNvSpPr txBox="1"/>
          <p:nvPr/>
        </p:nvSpPr>
        <p:spPr>
          <a:xfrm>
            <a:off x="4983480" y="179222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10" name="Texto 57"/>
          <p:cNvSpPr txBox="1"/>
          <p:nvPr/>
        </p:nvSpPr>
        <p:spPr>
          <a:xfrm>
            <a:off x="5623560" y="1691640"/>
            <a:ext cx="5852160" cy="621792"/>
          </a:xfrm>
          <a:prstGeom prst="rect">
            <a:avLst/>
          </a:prstGeom>
          <a:noFill/>
          <a:ln/>
        </p:spPr>
        <p:txBody>
          <a:bodyPr wrap="square" lIns="0" tIns="0" rIns="0" bIns="0" rtlCol="0" anchor="ctr"/>
          <a:lstStyle/>
          <a:p>
            <a:pPr indent="0" marL="0">
              <a:buNone/>
            </a:pPr>
            <a:r>
              <a:rPr lang="en-US" sz="1500" dirty="0">
                <a:solidFill>
                  <a:schemeClr val="tx1"/>
                </a:solidFill>
              </a:rPr>
              <a:t>Implementar autenticación para proteger el acceso al panel.</a:t>
            </a:r>
            <a:endParaRPr lang="en-US" sz="1500" dirty="0"/>
          </a:p>
        </p:txBody>
      </p:sp>
      <p:sp>
        <p:nvSpPr>
          <p:cNvPr id="11" name="Tarjeta 58"/>
          <p:cNvSpPr/>
          <p:nvPr/>
        </p:nvSpPr>
        <p:spPr>
          <a:xfrm>
            <a:off x="4846320" y="2423160"/>
            <a:ext cx="6766560" cy="621792"/>
          </a:xfrm>
          <a:prstGeom prst="roundRect">
            <a:avLst>
              <a:gd name="adj" fmla="val 14706"/>
            </a:avLst>
          </a:prstGeom>
          <a:solidFill>
            <a:schemeClr val="bg2"/>
          </a:solidFill>
          <a:ln/>
        </p:spPr>
      </p:sp>
      <p:sp>
        <p:nvSpPr>
          <p:cNvPr id="12" name="Insignia 59"/>
          <p:cNvSpPr/>
          <p:nvPr/>
        </p:nvSpPr>
        <p:spPr>
          <a:xfrm>
            <a:off x="4983480" y="2523744"/>
            <a:ext cx="420624" cy="420624"/>
          </a:xfrm>
          <a:prstGeom prst="ellipse">
            <a:avLst/>
          </a:prstGeom>
          <a:solidFill>
            <a:schemeClr val="accent4"/>
          </a:solidFill>
          <a:ln/>
        </p:spPr>
      </p:sp>
      <p:sp>
        <p:nvSpPr>
          <p:cNvPr id="13" name="Insignia texto 60"/>
          <p:cNvSpPr txBox="1"/>
          <p:nvPr/>
        </p:nvSpPr>
        <p:spPr>
          <a:xfrm>
            <a:off x="4983480" y="252374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14" name="Texto 61"/>
          <p:cNvSpPr txBox="1"/>
          <p:nvPr/>
        </p:nvSpPr>
        <p:spPr>
          <a:xfrm>
            <a:off x="5623560" y="2423160"/>
            <a:ext cx="5852160" cy="621792"/>
          </a:xfrm>
          <a:prstGeom prst="rect">
            <a:avLst/>
          </a:prstGeom>
          <a:noFill/>
          <a:ln/>
        </p:spPr>
        <p:txBody>
          <a:bodyPr wrap="square" lIns="0" tIns="0" rIns="0" bIns="0" rtlCol="0" anchor="ctr"/>
          <a:lstStyle/>
          <a:p>
            <a:pPr indent="0" marL="0">
              <a:buNone/>
            </a:pPr>
            <a:r>
              <a:rPr lang="en-US" sz="1500" dirty="0">
                <a:solidFill>
                  <a:schemeClr val="tx1"/>
                </a:solidFill>
              </a:rPr>
              <a:t>Registrar y administrar servidores con credenciales cifradas.</a:t>
            </a:r>
            <a:endParaRPr lang="en-US" sz="1500" dirty="0"/>
          </a:p>
        </p:txBody>
      </p:sp>
      <p:sp>
        <p:nvSpPr>
          <p:cNvPr id="15" name="Tarjeta 62"/>
          <p:cNvSpPr/>
          <p:nvPr/>
        </p:nvSpPr>
        <p:spPr>
          <a:xfrm>
            <a:off x="4846320" y="3154680"/>
            <a:ext cx="6766560" cy="621792"/>
          </a:xfrm>
          <a:prstGeom prst="roundRect">
            <a:avLst>
              <a:gd name="adj" fmla="val 14706"/>
            </a:avLst>
          </a:prstGeom>
          <a:solidFill>
            <a:schemeClr val="bg2"/>
          </a:solidFill>
          <a:ln/>
        </p:spPr>
      </p:sp>
      <p:sp>
        <p:nvSpPr>
          <p:cNvPr id="16" name="Insignia 63"/>
          <p:cNvSpPr/>
          <p:nvPr/>
        </p:nvSpPr>
        <p:spPr>
          <a:xfrm>
            <a:off x="4983480" y="3255264"/>
            <a:ext cx="420624" cy="420624"/>
          </a:xfrm>
          <a:prstGeom prst="ellipse">
            <a:avLst/>
          </a:prstGeom>
          <a:solidFill>
            <a:schemeClr val="accent4"/>
          </a:solidFill>
          <a:ln/>
        </p:spPr>
      </p:sp>
      <p:sp>
        <p:nvSpPr>
          <p:cNvPr id="17" name="Insignia texto 64"/>
          <p:cNvSpPr txBox="1"/>
          <p:nvPr/>
        </p:nvSpPr>
        <p:spPr>
          <a:xfrm>
            <a:off x="4983480" y="325526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18" name="Texto 65"/>
          <p:cNvSpPr txBox="1"/>
          <p:nvPr/>
        </p:nvSpPr>
        <p:spPr>
          <a:xfrm>
            <a:off x="5623560" y="3154680"/>
            <a:ext cx="5852160" cy="621792"/>
          </a:xfrm>
          <a:prstGeom prst="rect">
            <a:avLst/>
          </a:prstGeom>
          <a:noFill/>
          <a:ln/>
        </p:spPr>
        <p:txBody>
          <a:bodyPr wrap="square" lIns="0" tIns="0" rIns="0" bIns="0" rtlCol="0" anchor="ctr"/>
          <a:lstStyle/>
          <a:p>
            <a:pPr indent="0" marL="0">
              <a:buNone/>
            </a:pPr>
            <a:r>
              <a:rPr lang="en-US" sz="1500" dirty="0">
                <a:solidFill>
                  <a:schemeClr val="tx1"/>
                </a:solidFill>
              </a:rPr>
              <a:t>Capturar CPU, RAM, disco y batería con psutil y guardarlas como reportes.</a:t>
            </a:r>
            <a:endParaRPr lang="en-US" sz="1500" dirty="0"/>
          </a:p>
        </p:txBody>
      </p:sp>
      <p:sp>
        <p:nvSpPr>
          <p:cNvPr id="19" name="Tarjeta 66"/>
          <p:cNvSpPr/>
          <p:nvPr/>
        </p:nvSpPr>
        <p:spPr>
          <a:xfrm>
            <a:off x="4846320" y="3886200"/>
            <a:ext cx="6766560" cy="621792"/>
          </a:xfrm>
          <a:prstGeom prst="roundRect">
            <a:avLst>
              <a:gd name="adj" fmla="val 14706"/>
            </a:avLst>
          </a:prstGeom>
          <a:solidFill>
            <a:schemeClr val="bg2"/>
          </a:solidFill>
          <a:ln/>
        </p:spPr>
      </p:sp>
      <p:sp>
        <p:nvSpPr>
          <p:cNvPr id="20" name="Insignia 67"/>
          <p:cNvSpPr/>
          <p:nvPr/>
        </p:nvSpPr>
        <p:spPr>
          <a:xfrm>
            <a:off x="4983480" y="3986784"/>
            <a:ext cx="420624" cy="420624"/>
          </a:xfrm>
          <a:prstGeom prst="ellipse">
            <a:avLst/>
          </a:prstGeom>
          <a:solidFill>
            <a:schemeClr val="accent4"/>
          </a:solidFill>
          <a:ln/>
        </p:spPr>
      </p:sp>
      <p:sp>
        <p:nvSpPr>
          <p:cNvPr id="21" name="Insignia texto 68"/>
          <p:cNvSpPr txBox="1"/>
          <p:nvPr/>
        </p:nvSpPr>
        <p:spPr>
          <a:xfrm>
            <a:off x="4983480" y="398678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22" name="Texto 69"/>
          <p:cNvSpPr txBox="1"/>
          <p:nvPr/>
        </p:nvSpPr>
        <p:spPr>
          <a:xfrm>
            <a:off x="5623560" y="3886200"/>
            <a:ext cx="5852160" cy="621792"/>
          </a:xfrm>
          <a:prstGeom prst="rect">
            <a:avLst/>
          </a:prstGeom>
          <a:noFill/>
          <a:ln/>
        </p:spPr>
        <p:txBody>
          <a:bodyPr wrap="square" lIns="0" tIns="0" rIns="0" bIns="0" rtlCol="0" anchor="ctr"/>
          <a:lstStyle/>
          <a:p>
            <a:pPr indent="0" marL="0">
              <a:buNone/>
            </a:pPr>
            <a:r>
              <a:rPr lang="en-US" sz="1500" dirty="0">
                <a:solidFill>
                  <a:schemeClr val="tx1"/>
                </a:solidFill>
              </a:rPr>
              <a:t>Alertar al superar los umbrales de CPU, RAM, disco y batería.</a:t>
            </a:r>
            <a:endParaRPr lang="en-US" sz="1500" dirty="0"/>
          </a:p>
        </p:txBody>
      </p:sp>
      <p:sp>
        <p:nvSpPr>
          <p:cNvPr id="23" name="Tarjeta 70"/>
          <p:cNvSpPr/>
          <p:nvPr/>
        </p:nvSpPr>
        <p:spPr>
          <a:xfrm>
            <a:off x="4846320" y="4617720"/>
            <a:ext cx="6766560" cy="621792"/>
          </a:xfrm>
          <a:prstGeom prst="roundRect">
            <a:avLst>
              <a:gd name="adj" fmla="val 14706"/>
            </a:avLst>
          </a:prstGeom>
          <a:solidFill>
            <a:schemeClr val="bg2"/>
          </a:solidFill>
          <a:ln/>
        </p:spPr>
      </p:sp>
      <p:sp>
        <p:nvSpPr>
          <p:cNvPr id="24" name="Insignia 71"/>
          <p:cNvSpPr/>
          <p:nvPr/>
        </p:nvSpPr>
        <p:spPr>
          <a:xfrm>
            <a:off x="4983480" y="4718304"/>
            <a:ext cx="420624" cy="420624"/>
          </a:xfrm>
          <a:prstGeom prst="ellipse">
            <a:avLst/>
          </a:prstGeom>
          <a:solidFill>
            <a:schemeClr val="accent4"/>
          </a:solidFill>
          <a:ln/>
        </p:spPr>
      </p:sp>
      <p:sp>
        <p:nvSpPr>
          <p:cNvPr id="25" name="Insignia texto 72"/>
          <p:cNvSpPr txBox="1"/>
          <p:nvPr/>
        </p:nvSpPr>
        <p:spPr>
          <a:xfrm>
            <a:off x="4983480" y="471830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e</a:t>
            </a:r>
            <a:endParaRPr lang="en-US" sz="1500" dirty="0"/>
          </a:p>
        </p:txBody>
      </p:sp>
      <p:sp>
        <p:nvSpPr>
          <p:cNvPr id="26" name="Texto 73"/>
          <p:cNvSpPr txBox="1"/>
          <p:nvPr/>
        </p:nvSpPr>
        <p:spPr>
          <a:xfrm>
            <a:off x="5623560" y="4617720"/>
            <a:ext cx="5852160" cy="621792"/>
          </a:xfrm>
          <a:prstGeom prst="rect">
            <a:avLst/>
          </a:prstGeom>
          <a:noFill/>
          <a:ln/>
        </p:spPr>
        <p:txBody>
          <a:bodyPr wrap="square" lIns="0" tIns="0" rIns="0" bIns="0" rtlCol="0" anchor="ctr"/>
          <a:lstStyle/>
          <a:p>
            <a:pPr indent="0" marL="0">
              <a:buNone/>
            </a:pPr>
            <a:r>
              <a:rPr lang="en-US" sz="1500" dirty="0">
                <a:solidFill>
                  <a:schemeClr val="tx1"/>
                </a:solidFill>
              </a:rPr>
              <a:t>Mostrar el estado en un dashboard y consultar reportes por fecha y hora.</a:t>
            </a:r>
            <a:endParaRPr lang="en-US" sz="1500" dirty="0"/>
          </a:p>
        </p:txBody>
      </p:sp>
      <p:sp>
        <p:nvSpPr>
          <p:cNvPr id="27" name="Tarjeta 74"/>
          <p:cNvSpPr/>
          <p:nvPr/>
        </p:nvSpPr>
        <p:spPr>
          <a:xfrm>
            <a:off x="4846320" y="5349240"/>
            <a:ext cx="6766560" cy="621792"/>
          </a:xfrm>
          <a:prstGeom prst="roundRect">
            <a:avLst>
              <a:gd name="adj" fmla="val 14706"/>
            </a:avLst>
          </a:prstGeom>
          <a:solidFill>
            <a:schemeClr val="bg2"/>
          </a:solidFill>
          <a:ln/>
        </p:spPr>
      </p:sp>
      <p:sp>
        <p:nvSpPr>
          <p:cNvPr id="28" name="Insignia 75"/>
          <p:cNvSpPr/>
          <p:nvPr/>
        </p:nvSpPr>
        <p:spPr>
          <a:xfrm>
            <a:off x="4983480" y="5449824"/>
            <a:ext cx="420624" cy="420624"/>
          </a:xfrm>
          <a:prstGeom prst="ellipse">
            <a:avLst/>
          </a:prstGeom>
          <a:solidFill>
            <a:schemeClr val="accent4"/>
          </a:solidFill>
          <a:ln/>
        </p:spPr>
      </p:sp>
      <p:sp>
        <p:nvSpPr>
          <p:cNvPr id="29" name="Insignia texto 76"/>
          <p:cNvSpPr txBox="1"/>
          <p:nvPr/>
        </p:nvSpPr>
        <p:spPr>
          <a:xfrm>
            <a:off x="4983480" y="544982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30" name="Texto 77"/>
          <p:cNvSpPr txBox="1"/>
          <p:nvPr/>
        </p:nvSpPr>
        <p:spPr>
          <a:xfrm>
            <a:off x="5623560" y="5349240"/>
            <a:ext cx="5852160" cy="621792"/>
          </a:xfrm>
          <a:prstGeom prst="rect">
            <a:avLst/>
          </a:prstGeom>
          <a:noFill/>
          <a:ln/>
        </p:spPr>
        <p:txBody>
          <a:bodyPr wrap="square" lIns="0" tIns="0" rIns="0" bIns="0" rtlCol="0" anchor="ctr"/>
          <a:lstStyle/>
          <a:p>
            <a:pPr indent="0" marL="0">
              <a:buNone/>
            </a:pPr>
            <a:r>
              <a:rPr lang="en-US" sz="1500" dirty="0">
                <a:solidFill>
                  <a:schemeClr val="tx1"/>
                </a:solidFill>
              </a:rPr>
              <a:t>Evaluar la migración de Polling a WebSockets para actualizar sin consultas repetidas.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2 · OBJETIVOS, ALCANCE Y ACTORES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Alcance y limitaciones</a:t>
            </a:r>
            <a:endParaRPr lang="en-US" sz="3600" dirty="0"/>
          </a:p>
        </p:txBody>
      </p:sp>
      <p:sp>
        <p:nvSpPr>
          <p:cNvPr id="4" name="Tarjeta 78"/>
          <p:cNvSpPr/>
          <p:nvPr/>
        </p:nvSpPr>
        <p:spPr>
          <a:xfrm>
            <a:off x="548640" y="1691640"/>
            <a:ext cx="5394960" cy="4389120"/>
          </a:xfrm>
          <a:prstGeom prst="roundRect">
            <a:avLst>
              <a:gd name="adj" fmla="val 2083"/>
            </a:avLst>
          </a:prstGeom>
          <a:solidFill>
            <a:schemeClr val="bg2"/>
          </a:solidFill>
          <a:ln/>
        </p:spPr>
      </p:sp>
      <p:sp>
        <p:nvSpPr>
          <p:cNvPr id="5" name="Tarjeta 79"/>
          <p:cNvSpPr/>
          <p:nvPr/>
        </p:nvSpPr>
        <p:spPr>
          <a:xfrm>
            <a:off x="6217920" y="1691640"/>
            <a:ext cx="5394960" cy="4389120"/>
          </a:xfrm>
          <a:prstGeom prst="roundRect">
            <a:avLst>
              <a:gd name="adj" fmla="val 2083"/>
            </a:avLst>
          </a:prstGeom>
          <a:solidFill>
            <a:schemeClr val="bg2"/>
          </a:solidFill>
          <a:ln/>
        </p:spPr>
      </p:sp>
      <p:sp>
        <p:nvSpPr>
          <p:cNvPr id="6" name="Tarjeta 80"/>
          <p:cNvSpPr/>
          <p:nvPr/>
        </p:nvSpPr>
        <p:spPr>
          <a:xfrm>
            <a:off x="868680" y="2011680"/>
            <a:ext cx="1737360" cy="457200"/>
          </a:xfrm>
          <a:prstGeom prst="roundRect">
            <a:avLst>
              <a:gd name="adj" fmla="val 50000"/>
            </a:avLst>
          </a:prstGeom>
          <a:solidFill>
            <a:schemeClr val="accent2"/>
          </a:solidFill>
          <a:ln/>
        </p:spPr>
      </p:sp>
      <p:sp>
        <p:nvSpPr>
          <p:cNvPr id="7" name="Texto 81"/>
          <p:cNvSpPr txBox="1"/>
          <p:nvPr/>
        </p:nvSpPr>
        <p:spPr>
          <a:xfrm>
            <a:off x="868680" y="201168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Incluye</a:t>
            </a:r>
            <a:endParaRPr lang="en-US" sz="1600" dirty="0"/>
          </a:p>
        </p:txBody>
      </p:sp>
      <p:sp>
        <p:nvSpPr>
          <p:cNvPr id="8" name="Tarjeta 82"/>
          <p:cNvSpPr/>
          <p:nvPr/>
        </p:nvSpPr>
        <p:spPr>
          <a:xfrm>
            <a:off x="6537960" y="2011680"/>
            <a:ext cx="1737360" cy="457200"/>
          </a:xfrm>
          <a:prstGeom prst="roundRect">
            <a:avLst>
              <a:gd name="adj" fmla="val 50000"/>
            </a:avLst>
          </a:prstGeom>
          <a:solidFill>
            <a:schemeClr val="accent6"/>
          </a:solidFill>
          <a:ln/>
        </p:spPr>
      </p:sp>
      <p:sp>
        <p:nvSpPr>
          <p:cNvPr id="9" name="Texto 83"/>
          <p:cNvSpPr txBox="1"/>
          <p:nvPr/>
        </p:nvSpPr>
        <p:spPr>
          <a:xfrm>
            <a:off x="6537960" y="201168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No incluye</a:t>
            </a:r>
            <a:endParaRPr lang="en-US" sz="1600" dirty="0"/>
          </a:p>
        </p:txBody>
      </p:sp>
      <p:sp>
        <p:nvSpPr>
          <p:cNvPr id="10" name="Texto 84"/>
          <p:cNvSpPr txBox="1"/>
          <p:nvPr/>
        </p:nvSpPr>
        <p:spPr>
          <a:xfrm>
            <a:off x="868680" y="2788920"/>
            <a:ext cx="475488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Inicio y cierre de sesión con roles</a:t>
            </a:r>
            <a:endParaRPr lang="en-US" sz="1600" dirty="0"/>
          </a:p>
          <a:p>
            <a:pPr marL="342900" indent="-342900">
              <a:spcAft>
                <a:spcPts val="900"/>
              </a:spcAft>
              <a:buSzPct val="100000"/>
              <a:buChar char="•"/>
            </a:pPr>
            <a:r>
              <a:rPr lang="en-US" sz="1600" dirty="0">
                <a:solidFill>
                  <a:schemeClr val="tx1"/>
                </a:solidFill>
              </a:rPr>
              <a:t>Registro y edición de servidores</a:t>
            </a:r>
            <a:endParaRPr lang="en-US" sz="1600" dirty="0"/>
          </a:p>
          <a:p>
            <a:pPr marL="342900" indent="-342900">
              <a:spcAft>
                <a:spcPts val="900"/>
              </a:spcAft>
              <a:buSzPct val="100000"/>
              <a:buChar char="•"/>
            </a:pPr>
            <a:r>
              <a:rPr lang="en-US" sz="1600" dirty="0">
                <a:solidFill>
                  <a:schemeClr val="tx1"/>
                </a:solidFill>
              </a:rPr>
              <a:t>Lectura de CPU, RAM, disco y batería</a:t>
            </a:r>
            <a:endParaRPr lang="en-US" sz="1600" dirty="0"/>
          </a:p>
          <a:p>
            <a:pPr marL="342900" indent="-342900">
              <a:spcAft>
                <a:spcPts val="900"/>
              </a:spcAft>
              <a:buSzPct val="100000"/>
              <a:buChar char="•"/>
            </a:pPr>
            <a:r>
              <a:rPr lang="en-US" sz="1600" dirty="0">
                <a:solidFill>
                  <a:schemeClr val="tx1"/>
                </a:solidFill>
              </a:rPr>
              <a:t>Alertas visuales por umbral</a:t>
            </a:r>
            <a:endParaRPr lang="en-US" sz="1600" dirty="0"/>
          </a:p>
          <a:p>
            <a:pPr marL="342900" indent="-342900">
              <a:spcAft>
                <a:spcPts val="900"/>
              </a:spcAft>
              <a:buSzPct val="100000"/>
              <a:buChar char="•"/>
            </a:pPr>
            <a:r>
              <a:rPr lang="en-US" sz="1600" dirty="0">
                <a:solidFill>
                  <a:schemeClr val="tx1"/>
                </a:solidFill>
              </a:rPr>
              <a:t>Dashboard con el estado actual</a:t>
            </a:r>
            <a:endParaRPr lang="en-US" sz="1600" dirty="0"/>
          </a:p>
          <a:p>
            <a:pPr marL="342900" indent="-342900">
              <a:spcAft>
                <a:spcPts val="900"/>
              </a:spcAft>
              <a:buSzPct val="100000"/>
              <a:buChar char="•"/>
            </a:pPr>
            <a:r>
              <a:rPr lang="en-US" sz="1600" dirty="0">
                <a:solidFill>
                  <a:schemeClr val="tx1"/>
                </a:solidFill>
              </a:rPr>
              <a:t>Historial con consulta por fecha y hora</a:t>
            </a:r>
            <a:endParaRPr lang="en-US" sz="1600" dirty="0"/>
          </a:p>
          <a:p>
            <a:pPr marL="342900" indent="-342900">
              <a:spcAft>
                <a:spcPts val="900"/>
              </a:spcAft>
              <a:buSzPct val="100000"/>
              <a:buChar char="•"/>
            </a:pPr>
            <a:r>
              <a:rPr lang="en-US" sz="1600" dirty="0">
                <a:solidFill>
                  <a:schemeClr val="tx1"/>
                </a:solidFill>
              </a:rPr>
              <a:t>Credenciales de servidores cifradas</a:t>
            </a:r>
            <a:endParaRPr lang="en-US" sz="1600" dirty="0"/>
          </a:p>
        </p:txBody>
      </p:sp>
      <p:sp>
        <p:nvSpPr>
          <p:cNvPr id="11" name="Texto 85"/>
          <p:cNvSpPr txBox="1"/>
          <p:nvPr/>
        </p:nvSpPr>
        <p:spPr>
          <a:xfrm>
            <a:off x="6537960" y="2788920"/>
            <a:ext cx="475488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Notificaciones por correo, Telegram u otro canal</a:t>
            </a:r>
            <a:endParaRPr lang="en-US" sz="1600" dirty="0"/>
          </a:p>
          <a:p>
            <a:pPr marL="342900" indent="-342900">
              <a:spcAft>
                <a:spcPts val="900"/>
              </a:spcAft>
              <a:buSzPct val="100000"/>
              <a:buChar char="•"/>
            </a:pPr>
            <a:r>
              <a:rPr lang="en-US" sz="1600" dirty="0">
                <a:solidFill>
                  <a:schemeClr val="tx1"/>
                </a:solidFill>
              </a:rPr>
              <a:t>Integración real con Zabbix u otras plataformas</a:t>
            </a:r>
            <a:endParaRPr lang="en-US" sz="1600" dirty="0"/>
          </a:p>
          <a:p>
            <a:pPr marL="342900" indent="-342900">
              <a:spcAft>
                <a:spcPts val="900"/>
              </a:spcAft>
              <a:buSzPct val="100000"/>
              <a:buChar char="•"/>
            </a:pPr>
            <a:r>
              <a:rPr lang="en-US" sz="1600" dirty="0">
                <a:solidFill>
                  <a:schemeClr val="tx1"/>
                </a:solidFill>
              </a:rPr>
              <a:t>Acciones de control sobre los servidores (reiniciar, apagar, ejecutar tareas)</a:t>
            </a:r>
            <a:endParaRPr lang="en-US" sz="1600" dirty="0"/>
          </a:p>
          <a:p>
            <a:pPr marL="342900" indent="-342900">
              <a:spcAft>
                <a:spcPts val="900"/>
              </a:spcAft>
              <a:buSzPct val="100000"/>
              <a:buChar char="•"/>
            </a:pPr>
            <a:r>
              <a:rPr lang="en-US" sz="1600" dirty="0">
                <a:solidFill>
                  <a:schemeClr val="tx1"/>
                </a:solidFill>
              </a:rPr>
              <a:t>Monitoreo de red, procesos o aplicaciones individuales</a:t>
            </a:r>
            <a:endParaRPr lang="en-US" sz="1600" dirty="0"/>
          </a:p>
          <a:p>
            <a:pPr marL="342900" indent="-342900">
              <a:spcAft>
                <a:spcPts val="900"/>
              </a:spcAft>
              <a:buSzPct val="100000"/>
              <a:buChar char="•"/>
            </a:pPr>
            <a:r>
              <a:rPr lang="en-US" sz="1600" dirty="0">
                <a:solidFill>
                  <a:schemeClr val="tx1"/>
                </a:solidFill>
              </a:rPr>
              <a:t>Aplicación móvil</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2 · OBJETIVOS, ALCANCE Y ACTORES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Actores del sistema</a:t>
            </a:r>
            <a:endParaRPr lang="en-US" sz="3600" dirty="0"/>
          </a:p>
        </p:txBody>
      </p:sp>
      <p:sp>
        <p:nvSpPr>
          <p:cNvPr id="4" name="Tarjeta 86"/>
          <p:cNvSpPr/>
          <p:nvPr/>
        </p:nvSpPr>
        <p:spPr>
          <a:xfrm>
            <a:off x="548640" y="1691640"/>
            <a:ext cx="2606040" cy="4389120"/>
          </a:xfrm>
          <a:prstGeom prst="roundRect">
            <a:avLst>
              <a:gd name="adj" fmla="val 3509"/>
            </a:avLst>
          </a:prstGeom>
          <a:solidFill>
            <a:schemeClr val="bg2"/>
          </a:solidFill>
          <a:ln/>
        </p:spPr>
      </p:sp>
      <p:sp>
        <p:nvSpPr>
          <p:cNvPr id="5" name="Icono fondo 87"/>
          <p:cNvSpPr/>
          <p:nvPr/>
        </p:nvSpPr>
        <p:spPr>
          <a:xfrm>
            <a:off x="822960" y="1965960"/>
            <a:ext cx="731520" cy="731520"/>
          </a:xfrm>
          <a:prstGeom prst="ellipse">
            <a:avLst/>
          </a:prstGeom>
          <a:solidFill>
            <a:schemeClr val="accent4"/>
          </a:solidFill>
          <a:ln/>
        </p:spPr>
      </p:sp>
      <p:pic>
        <p:nvPicPr>
          <p:cNvPr id="6" name="Icono 88" descr="FaUserShield">    </p:cNvPr>
          <p:cNvPicPr>
            <a:picLocks noChangeAspect="1"/>
          </p:cNvPicPr>
          <p:nvPr/>
        </p:nvPicPr>
        <p:blipFill>
          <a:blip r:embed="rId1"/>
          <a:stretch>
            <a:fillRect/>
          </a:stretch>
        </p:blipFill>
        <p:spPr>
          <a:xfrm>
            <a:off x="1005840" y="2148840"/>
            <a:ext cx="365760" cy="365760"/>
          </a:xfrm>
          <a:prstGeom prst="rect">
            <a:avLst/>
          </a:prstGeom>
        </p:spPr>
      </p:pic>
      <p:sp>
        <p:nvSpPr>
          <p:cNvPr id="7" name="Texto 89"/>
          <p:cNvSpPr txBox="1"/>
          <p:nvPr/>
        </p:nvSpPr>
        <p:spPr>
          <a:xfrm>
            <a:off x="822960" y="2880360"/>
            <a:ext cx="2057400" cy="320040"/>
          </a:xfrm>
          <a:prstGeom prst="rect">
            <a:avLst/>
          </a:prstGeom>
          <a:noFill/>
          <a:ln/>
        </p:spPr>
        <p:txBody>
          <a:bodyPr wrap="square" lIns="0" tIns="0" rIns="0" bIns="0" rtlCol="0" anchor="t"/>
          <a:lstStyle/>
          <a:p>
            <a:pPr indent="0" marL="0">
              <a:buNone/>
            </a:pPr>
            <a:r>
              <a:rPr lang="en-US" sz="1600" b="1" dirty="0">
                <a:solidFill>
                  <a:schemeClr val="tx2"/>
                </a:solidFill>
              </a:rPr>
              <a:t>Administrador de TI</a:t>
            </a:r>
            <a:endParaRPr lang="en-US" sz="1600" dirty="0"/>
          </a:p>
        </p:txBody>
      </p:sp>
      <p:sp>
        <p:nvSpPr>
          <p:cNvPr id="8" name="Texto 90"/>
          <p:cNvSpPr txBox="1"/>
          <p:nvPr/>
        </p:nvSpPr>
        <p:spPr>
          <a:xfrm>
            <a:off x="822960" y="3291840"/>
            <a:ext cx="2057400" cy="594360"/>
          </a:xfrm>
          <a:prstGeom prst="rect">
            <a:avLst/>
          </a:prstGeom>
          <a:noFill/>
          <a:ln/>
        </p:spPr>
        <p:txBody>
          <a:bodyPr wrap="square" lIns="0" tIns="0" rIns="0" bIns="0" rtlCol="0" anchor="t"/>
          <a:lstStyle/>
          <a:p>
            <a:pPr indent="0" marL="0">
              <a:buNone/>
            </a:pPr>
            <a:r>
              <a:rPr lang="en-US" sz="1500" dirty="0">
                <a:solidFill>
                  <a:schemeClr val="accent6"/>
                </a:solidFill>
              </a:rPr>
              <a:t>Usuario con rol admin.</a:t>
            </a:r>
            <a:endParaRPr lang="en-US" sz="1500" dirty="0"/>
          </a:p>
        </p:txBody>
      </p:sp>
      <p:sp>
        <p:nvSpPr>
          <p:cNvPr id="9" name="Texto 91"/>
          <p:cNvSpPr txBox="1"/>
          <p:nvPr/>
        </p:nvSpPr>
        <p:spPr>
          <a:xfrm>
            <a:off x="822960" y="3977640"/>
            <a:ext cx="20574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INTERACCIÓN</a:t>
            </a:r>
            <a:endParaRPr lang="en-US" sz="1100" dirty="0"/>
          </a:p>
        </p:txBody>
      </p:sp>
      <p:sp>
        <p:nvSpPr>
          <p:cNvPr id="10" name="Texto 92"/>
          <p:cNvSpPr txBox="1"/>
          <p:nvPr/>
        </p:nvSpPr>
        <p:spPr>
          <a:xfrm>
            <a:off x="822960" y="4297680"/>
            <a:ext cx="2057400" cy="1645920"/>
          </a:xfrm>
          <a:prstGeom prst="rect">
            <a:avLst/>
          </a:prstGeom>
          <a:noFill/>
          <a:ln/>
        </p:spPr>
        <p:txBody>
          <a:bodyPr wrap="square" lIns="0" tIns="0" rIns="0" bIns="0" rtlCol="0" anchor="t"/>
          <a:lstStyle/>
          <a:p>
            <a:pPr indent="0" marL="0">
              <a:buNone/>
            </a:pPr>
            <a:r>
              <a:rPr lang="en-US" sz="1600" dirty="0">
                <a:solidFill>
                  <a:schemeClr val="tx1"/>
                </a:solidFill>
              </a:rPr>
              <a:t>Registra servidores, revisa el dashboard y consulta el historial.</a:t>
            </a:r>
            <a:endParaRPr lang="en-US" sz="1600" dirty="0"/>
          </a:p>
        </p:txBody>
      </p:sp>
      <p:sp>
        <p:nvSpPr>
          <p:cNvPr id="11" name="Tarjeta 93"/>
          <p:cNvSpPr/>
          <p:nvPr/>
        </p:nvSpPr>
        <p:spPr>
          <a:xfrm>
            <a:off x="3364992" y="1691640"/>
            <a:ext cx="2606040" cy="4389120"/>
          </a:xfrm>
          <a:prstGeom prst="roundRect">
            <a:avLst>
              <a:gd name="adj" fmla="val 3509"/>
            </a:avLst>
          </a:prstGeom>
          <a:solidFill>
            <a:schemeClr val="bg2"/>
          </a:solidFill>
          <a:ln/>
        </p:spPr>
      </p:sp>
      <p:sp>
        <p:nvSpPr>
          <p:cNvPr id="12" name="Icono fondo 94"/>
          <p:cNvSpPr/>
          <p:nvPr/>
        </p:nvSpPr>
        <p:spPr>
          <a:xfrm>
            <a:off x="3639312" y="1965960"/>
            <a:ext cx="731520" cy="731520"/>
          </a:xfrm>
          <a:prstGeom prst="ellipse">
            <a:avLst/>
          </a:prstGeom>
          <a:solidFill>
            <a:schemeClr val="accent2"/>
          </a:solidFill>
          <a:ln/>
        </p:spPr>
      </p:sp>
      <p:pic>
        <p:nvPicPr>
          <p:cNvPr id="13" name="Icono 95" descr="FaEye">    </p:cNvPr>
          <p:cNvPicPr>
            <a:picLocks noChangeAspect="1"/>
          </p:cNvPicPr>
          <p:nvPr/>
        </p:nvPicPr>
        <p:blipFill>
          <a:blip r:embed="rId2"/>
          <a:stretch>
            <a:fillRect/>
          </a:stretch>
        </p:blipFill>
        <p:spPr>
          <a:xfrm>
            <a:off x="3822192" y="2148840"/>
            <a:ext cx="365760" cy="365760"/>
          </a:xfrm>
          <a:prstGeom prst="rect">
            <a:avLst/>
          </a:prstGeom>
        </p:spPr>
      </p:pic>
      <p:sp>
        <p:nvSpPr>
          <p:cNvPr id="14" name="Texto 96"/>
          <p:cNvSpPr txBox="1"/>
          <p:nvPr/>
        </p:nvSpPr>
        <p:spPr>
          <a:xfrm>
            <a:off x="3639312" y="2880360"/>
            <a:ext cx="2057400" cy="320040"/>
          </a:xfrm>
          <a:prstGeom prst="rect">
            <a:avLst/>
          </a:prstGeom>
          <a:noFill/>
          <a:ln/>
        </p:spPr>
        <p:txBody>
          <a:bodyPr wrap="square" lIns="0" tIns="0" rIns="0" bIns="0" rtlCol="0" anchor="t"/>
          <a:lstStyle/>
          <a:p>
            <a:pPr indent="0" marL="0">
              <a:buNone/>
            </a:pPr>
            <a:r>
              <a:rPr lang="en-US" sz="1600" b="1" dirty="0">
                <a:solidFill>
                  <a:schemeClr val="tx2"/>
                </a:solidFill>
              </a:rPr>
              <a:t>Visor</a:t>
            </a:r>
            <a:endParaRPr lang="en-US" sz="1600" dirty="0"/>
          </a:p>
        </p:txBody>
      </p:sp>
      <p:sp>
        <p:nvSpPr>
          <p:cNvPr id="15" name="Texto 97"/>
          <p:cNvSpPr txBox="1"/>
          <p:nvPr/>
        </p:nvSpPr>
        <p:spPr>
          <a:xfrm>
            <a:off x="3639312" y="3291840"/>
            <a:ext cx="2057400" cy="594360"/>
          </a:xfrm>
          <a:prstGeom prst="rect">
            <a:avLst/>
          </a:prstGeom>
          <a:noFill/>
          <a:ln/>
        </p:spPr>
        <p:txBody>
          <a:bodyPr wrap="square" lIns="0" tIns="0" rIns="0" bIns="0" rtlCol="0" anchor="t"/>
          <a:lstStyle/>
          <a:p>
            <a:pPr indent="0" marL="0">
              <a:buNone/>
            </a:pPr>
            <a:r>
              <a:rPr lang="en-US" sz="1500" dirty="0">
                <a:solidFill>
                  <a:schemeClr val="accent6"/>
                </a:solidFill>
              </a:rPr>
              <a:t>Usuario de solo consulta.</a:t>
            </a:r>
            <a:endParaRPr lang="en-US" sz="1500" dirty="0"/>
          </a:p>
        </p:txBody>
      </p:sp>
      <p:sp>
        <p:nvSpPr>
          <p:cNvPr id="16" name="Texto 98"/>
          <p:cNvSpPr txBox="1"/>
          <p:nvPr/>
        </p:nvSpPr>
        <p:spPr>
          <a:xfrm>
            <a:off x="3639312" y="3977640"/>
            <a:ext cx="20574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INTERACCIÓN</a:t>
            </a:r>
            <a:endParaRPr lang="en-US" sz="1100" dirty="0"/>
          </a:p>
        </p:txBody>
      </p:sp>
      <p:sp>
        <p:nvSpPr>
          <p:cNvPr id="17" name="Texto 99"/>
          <p:cNvSpPr txBox="1"/>
          <p:nvPr/>
        </p:nvSpPr>
        <p:spPr>
          <a:xfrm>
            <a:off x="3639312" y="4297680"/>
            <a:ext cx="2057400" cy="1645920"/>
          </a:xfrm>
          <a:prstGeom prst="rect">
            <a:avLst/>
          </a:prstGeom>
          <a:noFill/>
          <a:ln/>
        </p:spPr>
        <p:txBody>
          <a:bodyPr wrap="square" lIns="0" tIns="0" rIns="0" bIns="0" rtlCol="0" anchor="t"/>
          <a:lstStyle/>
          <a:p>
            <a:pPr indent="0" marL="0">
              <a:buNone/>
            </a:pPr>
            <a:r>
              <a:rPr lang="en-US" sz="1600" dirty="0">
                <a:solidFill>
                  <a:schemeClr val="tx1"/>
                </a:solidFill>
              </a:rPr>
              <a:t>Revisa dashboard e historial; no modifica servidores.</a:t>
            </a:r>
            <a:endParaRPr lang="en-US" sz="1600" dirty="0"/>
          </a:p>
        </p:txBody>
      </p:sp>
      <p:sp>
        <p:nvSpPr>
          <p:cNvPr id="18" name="Tarjeta 100"/>
          <p:cNvSpPr/>
          <p:nvPr/>
        </p:nvSpPr>
        <p:spPr>
          <a:xfrm>
            <a:off x="6181344" y="1691640"/>
            <a:ext cx="2606040" cy="4389120"/>
          </a:xfrm>
          <a:prstGeom prst="roundRect">
            <a:avLst>
              <a:gd name="adj" fmla="val 3509"/>
            </a:avLst>
          </a:prstGeom>
          <a:solidFill>
            <a:schemeClr val="bg2"/>
          </a:solidFill>
          <a:ln/>
        </p:spPr>
      </p:sp>
      <p:sp>
        <p:nvSpPr>
          <p:cNvPr id="19" name="Icono fondo 101"/>
          <p:cNvSpPr/>
          <p:nvPr/>
        </p:nvSpPr>
        <p:spPr>
          <a:xfrm>
            <a:off x="6455664" y="1965960"/>
            <a:ext cx="731520" cy="731520"/>
          </a:xfrm>
          <a:prstGeom prst="ellipse">
            <a:avLst/>
          </a:prstGeom>
          <a:solidFill>
            <a:schemeClr val="accent5"/>
          </a:solidFill>
          <a:ln/>
        </p:spPr>
      </p:sp>
      <p:pic>
        <p:nvPicPr>
          <p:cNvPr id="20" name="Icono 102" descr="FaRobot">    </p:cNvPr>
          <p:cNvPicPr>
            <a:picLocks noChangeAspect="1"/>
          </p:cNvPicPr>
          <p:nvPr/>
        </p:nvPicPr>
        <p:blipFill>
          <a:blip r:embed="rId3"/>
          <a:stretch>
            <a:fillRect/>
          </a:stretch>
        </p:blipFill>
        <p:spPr>
          <a:xfrm>
            <a:off x="6638544" y="2148840"/>
            <a:ext cx="365760" cy="365760"/>
          </a:xfrm>
          <a:prstGeom prst="rect">
            <a:avLst/>
          </a:prstGeom>
        </p:spPr>
      </p:pic>
      <p:sp>
        <p:nvSpPr>
          <p:cNvPr id="21" name="Texto 103"/>
          <p:cNvSpPr txBox="1"/>
          <p:nvPr/>
        </p:nvSpPr>
        <p:spPr>
          <a:xfrm>
            <a:off x="6455664" y="2880360"/>
            <a:ext cx="2057400" cy="320040"/>
          </a:xfrm>
          <a:prstGeom prst="rect">
            <a:avLst/>
          </a:prstGeom>
          <a:noFill/>
          <a:ln/>
        </p:spPr>
        <p:txBody>
          <a:bodyPr wrap="square" lIns="0" tIns="0" rIns="0" bIns="0" rtlCol="0" anchor="t"/>
          <a:lstStyle/>
          <a:p>
            <a:pPr indent="0" marL="0">
              <a:buNone/>
            </a:pPr>
            <a:r>
              <a:rPr lang="en-US" sz="1600" b="1" dirty="0">
                <a:solidFill>
                  <a:schemeClr val="tx2"/>
                </a:solidFill>
              </a:rPr>
              <a:t>Agente de telemetría</a:t>
            </a:r>
            <a:endParaRPr lang="en-US" sz="1600" dirty="0"/>
          </a:p>
        </p:txBody>
      </p:sp>
      <p:sp>
        <p:nvSpPr>
          <p:cNvPr id="22" name="Texto 104"/>
          <p:cNvSpPr txBox="1"/>
          <p:nvPr/>
        </p:nvSpPr>
        <p:spPr>
          <a:xfrm>
            <a:off x="6455664" y="3291840"/>
            <a:ext cx="2057400" cy="594360"/>
          </a:xfrm>
          <a:prstGeom prst="rect">
            <a:avLst/>
          </a:prstGeom>
          <a:noFill/>
          <a:ln/>
        </p:spPr>
        <p:txBody>
          <a:bodyPr wrap="square" lIns="0" tIns="0" rIns="0" bIns="0" rtlCol="0" anchor="t"/>
          <a:lstStyle/>
          <a:p>
            <a:pPr indent="0" marL="0">
              <a:buNone/>
            </a:pPr>
            <a:r>
              <a:rPr lang="en-US" sz="1500" dirty="0">
                <a:solidFill>
                  <a:schemeClr val="accent6"/>
                </a:solidFill>
              </a:rPr>
              <a:t>Componente basado en psutil.</a:t>
            </a:r>
            <a:endParaRPr lang="en-US" sz="1500" dirty="0"/>
          </a:p>
        </p:txBody>
      </p:sp>
      <p:sp>
        <p:nvSpPr>
          <p:cNvPr id="23" name="Texto 105"/>
          <p:cNvSpPr txBox="1"/>
          <p:nvPr/>
        </p:nvSpPr>
        <p:spPr>
          <a:xfrm>
            <a:off x="6455664" y="3977640"/>
            <a:ext cx="20574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INTERACCIÓN</a:t>
            </a:r>
            <a:endParaRPr lang="en-US" sz="1100" dirty="0"/>
          </a:p>
        </p:txBody>
      </p:sp>
      <p:sp>
        <p:nvSpPr>
          <p:cNvPr id="24" name="Texto 106"/>
          <p:cNvSpPr txBox="1"/>
          <p:nvPr/>
        </p:nvSpPr>
        <p:spPr>
          <a:xfrm>
            <a:off x="6455664" y="4297680"/>
            <a:ext cx="2057400" cy="1645920"/>
          </a:xfrm>
          <a:prstGeom prst="rect">
            <a:avLst/>
          </a:prstGeom>
          <a:noFill/>
          <a:ln/>
        </p:spPr>
        <p:txBody>
          <a:bodyPr wrap="square" lIns="0" tIns="0" rIns="0" bIns="0" rtlCol="0" anchor="t"/>
          <a:lstStyle/>
          <a:p>
            <a:pPr indent="0" marL="0">
              <a:buNone/>
            </a:pPr>
            <a:r>
              <a:rPr lang="en-US" sz="1600" dirty="0">
                <a:solidFill>
                  <a:schemeClr val="tx1"/>
                </a:solidFill>
              </a:rPr>
              <a:t>Lee CPU, RAM, disco y batería y entrega las lecturas a la aplicación.</a:t>
            </a:r>
            <a:endParaRPr lang="en-US" sz="1600" dirty="0"/>
          </a:p>
        </p:txBody>
      </p:sp>
      <p:sp>
        <p:nvSpPr>
          <p:cNvPr id="25" name="Tarjeta 107"/>
          <p:cNvSpPr/>
          <p:nvPr/>
        </p:nvSpPr>
        <p:spPr>
          <a:xfrm>
            <a:off x="8997696" y="1691640"/>
            <a:ext cx="2606040" cy="4389120"/>
          </a:xfrm>
          <a:prstGeom prst="roundRect">
            <a:avLst>
              <a:gd name="adj" fmla="val 3509"/>
            </a:avLst>
          </a:prstGeom>
          <a:solidFill>
            <a:schemeClr val="bg2"/>
          </a:solidFill>
          <a:ln/>
        </p:spPr>
      </p:sp>
      <p:sp>
        <p:nvSpPr>
          <p:cNvPr id="26" name="Icono fondo 108"/>
          <p:cNvSpPr/>
          <p:nvPr/>
        </p:nvSpPr>
        <p:spPr>
          <a:xfrm>
            <a:off x="9272016" y="1965960"/>
            <a:ext cx="731520" cy="731520"/>
          </a:xfrm>
          <a:prstGeom prst="ellipse">
            <a:avLst/>
          </a:prstGeom>
          <a:solidFill>
            <a:schemeClr val="accent6"/>
          </a:solidFill>
          <a:ln/>
        </p:spPr>
      </p:sp>
      <p:pic>
        <p:nvPicPr>
          <p:cNvPr id="27" name="Icono 109" descr="FaServer">    </p:cNvPr>
          <p:cNvPicPr>
            <a:picLocks noChangeAspect="1"/>
          </p:cNvPicPr>
          <p:nvPr/>
        </p:nvPicPr>
        <p:blipFill>
          <a:blip r:embed="rId4"/>
          <a:stretch>
            <a:fillRect/>
          </a:stretch>
        </p:blipFill>
        <p:spPr>
          <a:xfrm>
            <a:off x="9454896" y="2148840"/>
            <a:ext cx="365760" cy="365760"/>
          </a:xfrm>
          <a:prstGeom prst="rect">
            <a:avLst/>
          </a:prstGeom>
        </p:spPr>
      </p:pic>
      <p:sp>
        <p:nvSpPr>
          <p:cNvPr id="28" name="Texto 110"/>
          <p:cNvSpPr txBox="1"/>
          <p:nvPr/>
        </p:nvSpPr>
        <p:spPr>
          <a:xfrm>
            <a:off x="9272016" y="2880360"/>
            <a:ext cx="2057400" cy="320040"/>
          </a:xfrm>
          <a:prstGeom prst="rect">
            <a:avLst/>
          </a:prstGeom>
          <a:noFill/>
          <a:ln/>
        </p:spPr>
        <p:txBody>
          <a:bodyPr wrap="square" lIns="0" tIns="0" rIns="0" bIns="0" rtlCol="0" anchor="t"/>
          <a:lstStyle/>
          <a:p>
            <a:pPr indent="0" marL="0">
              <a:buNone/>
            </a:pPr>
            <a:r>
              <a:rPr lang="en-US" sz="1600" b="1" dirty="0">
                <a:solidFill>
                  <a:schemeClr val="tx2"/>
                </a:solidFill>
              </a:rPr>
              <a:t>Equipo monitoreado</a:t>
            </a:r>
            <a:endParaRPr lang="en-US" sz="1600" dirty="0"/>
          </a:p>
        </p:txBody>
      </p:sp>
      <p:sp>
        <p:nvSpPr>
          <p:cNvPr id="29" name="Texto 111"/>
          <p:cNvSpPr txBox="1"/>
          <p:nvPr/>
        </p:nvSpPr>
        <p:spPr>
          <a:xfrm>
            <a:off x="9272016" y="3291840"/>
            <a:ext cx="2057400" cy="594360"/>
          </a:xfrm>
          <a:prstGeom prst="rect">
            <a:avLst/>
          </a:prstGeom>
          <a:noFill/>
          <a:ln/>
        </p:spPr>
        <p:txBody>
          <a:bodyPr wrap="square" lIns="0" tIns="0" rIns="0" bIns="0" rtlCol="0" anchor="t"/>
          <a:lstStyle/>
          <a:p>
            <a:pPr indent="0" marL="0">
              <a:buNone/>
            </a:pPr>
            <a:r>
              <a:rPr lang="en-US" sz="1500" dirty="0">
                <a:solidFill>
                  <a:schemeClr val="accent6"/>
                </a:solidFill>
              </a:rPr>
              <a:t>Servidor o PC que se mide.</a:t>
            </a:r>
            <a:endParaRPr lang="en-US" sz="1500" dirty="0"/>
          </a:p>
        </p:txBody>
      </p:sp>
      <p:sp>
        <p:nvSpPr>
          <p:cNvPr id="30" name="Texto 112"/>
          <p:cNvSpPr txBox="1"/>
          <p:nvPr/>
        </p:nvSpPr>
        <p:spPr>
          <a:xfrm>
            <a:off x="9272016" y="3977640"/>
            <a:ext cx="20574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INTERACCIÓN</a:t>
            </a:r>
            <a:endParaRPr lang="en-US" sz="1100" dirty="0"/>
          </a:p>
        </p:txBody>
      </p:sp>
      <p:sp>
        <p:nvSpPr>
          <p:cNvPr id="31" name="Texto 113"/>
          <p:cNvSpPr txBox="1"/>
          <p:nvPr/>
        </p:nvSpPr>
        <p:spPr>
          <a:xfrm>
            <a:off x="9272016" y="4297680"/>
            <a:ext cx="2057400" cy="1645920"/>
          </a:xfrm>
          <a:prstGeom prst="rect">
            <a:avLst/>
          </a:prstGeom>
          <a:noFill/>
          <a:ln/>
        </p:spPr>
        <p:txBody>
          <a:bodyPr wrap="square" lIns="0" tIns="0" rIns="0" bIns="0" rtlCol="0" anchor="t"/>
          <a:lstStyle/>
          <a:p>
            <a:pPr indent="0" marL="0">
              <a:buNone/>
            </a:pPr>
            <a:r>
              <a:rPr lang="en-US" sz="1600" dirty="0">
                <a:solidFill>
                  <a:schemeClr val="tx1"/>
                </a:solidFill>
              </a:rPr>
              <a:t>Es la fuente de las métricas.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3 · REQUERIMIENTOS FUNCIONALES Y NO FUNCIONALES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Requerimientos funcionales</a:t>
            </a:r>
            <a:endParaRPr lang="en-US" sz="3600" dirty="0"/>
          </a:p>
        </p:txBody>
      </p:sp>
      <p:graphicFrame>
        <p:nvGraphicFramePr>
          <p:cNvPr id="8" name="Tabla RF"/>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097280"/>
                <a:gridCol w="2377440"/>
                <a:gridCol w="6400800"/>
                <a:gridCol w="1188720"/>
              </a:tblGrid>
              <a:tr h="530352">
                <a:tc>
                  <a:txBody>
                    <a:bodyPr/>
                    <a:lstStyle/>
                    <a:p>
                      <a:pPr indent="0" marL="0">
                        <a:buNone/>
                      </a:pPr>
                      <a:r>
                        <a:rPr lang="en-US" sz="1600" b="1" dirty="0">
                          <a:solidFill>
                            <a:schemeClr val="bg1"/>
                          </a:solidFill>
                        </a:rPr>
                        <a:t>Código</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Módulo</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Descripción</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Prioridad</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r>
              <a:tr h="530352">
                <a:tc>
                  <a:txBody>
                    <a:bodyPr/>
                    <a:lstStyle/>
                    <a:p>
                      <a:pPr indent="0" marL="0">
                        <a:buNone/>
                      </a:pPr>
                      <a:r>
                        <a:rPr lang="en-US" sz="1600" b="1" dirty="0">
                          <a:solidFill>
                            <a:schemeClr val="tx1"/>
                          </a:solidFill>
                        </a:rPr>
                        <a:t>RF-01</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Autenticación</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Iniciar y cerrar sesión; el panel exige autenticación.</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530352">
                <a:tc>
                  <a:txBody>
                    <a:bodyPr/>
                    <a:lstStyle/>
                    <a:p>
                      <a:pPr indent="0" marL="0">
                        <a:buNone/>
                      </a:pPr>
                      <a:r>
                        <a:rPr lang="en-US" sz="1600" b="1" dirty="0">
                          <a:solidFill>
                            <a:schemeClr val="tx1"/>
                          </a:solidFill>
                        </a:rPr>
                        <a:t>RF-02</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Agente de telemetría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Capturar CPU, RAM, disco y batería del equipo monitoreado.</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30352">
                <a:tc>
                  <a:txBody>
                    <a:bodyPr/>
                    <a:lstStyle/>
                    <a:p>
                      <a:pPr indent="0" marL="0">
                        <a:buNone/>
                      </a:pPr>
                      <a:r>
                        <a:rPr lang="en-US" sz="1600" b="1" dirty="0">
                          <a:solidFill>
                            <a:schemeClr val="tx1"/>
                          </a:solidFill>
                        </a:rPr>
                        <a:t>RF-03</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Dashboard</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Mostrar los datos en una interfaz web (dashboard).</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530352">
                <a:tc>
                  <a:txBody>
                    <a:bodyPr/>
                    <a:lstStyle/>
                    <a:p>
                      <a:pPr indent="0" marL="0">
                        <a:buNone/>
                      </a:pPr>
                      <a:r>
                        <a:rPr lang="en-US" sz="1600" b="1" dirty="0">
                          <a:solidFill>
                            <a:schemeClr val="tx1"/>
                          </a:solidFill>
                        </a:rPr>
                        <a:t>RF-04</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Alertas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Generar alertas visuales al superar umbrales (CPU &gt; 80%, RAM &gt; 85%, disco &gt; 90%, batería &lt; 20%).</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30352">
                <a:tc>
                  <a:txBody>
                    <a:bodyPr/>
                    <a:lstStyle/>
                    <a:p>
                      <a:pPr indent="0" marL="0">
                        <a:buNone/>
                      </a:pPr>
                      <a:r>
                        <a:rPr lang="en-US" sz="1600" b="1" dirty="0">
                          <a:solidFill>
                            <a:schemeClr val="tx1"/>
                          </a:solidFill>
                        </a:rPr>
                        <a:t>RF-05</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Historial</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Almacenar el historial de reportes en una base de datos.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530352">
                <a:tc>
                  <a:txBody>
                    <a:bodyPr/>
                    <a:lstStyle/>
                    <a:p>
                      <a:pPr indent="0" marL="0">
                        <a:buNone/>
                      </a:pPr>
                      <a:r>
                        <a:rPr lang="en-US" sz="1600" b="1" dirty="0">
                          <a:solidFill>
                            <a:schemeClr val="tx1"/>
                          </a:solidFill>
                        </a:rPr>
                        <a:t>RF-06</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Consulta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Consultar reportes anteriores por fecha y hora.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Media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530352">
                <a:tc>
                  <a:txBody>
                    <a:bodyPr/>
                    <a:lstStyle/>
                    <a:p>
                      <a:pPr indent="0" marL="0">
                        <a:buNone/>
                      </a:pPr>
                      <a:r>
                        <a:rPr lang="en-US" sz="1600" b="1" dirty="0">
                          <a:solidFill>
                            <a:schemeClr val="tx1"/>
                          </a:solidFill>
                        </a:rPr>
                        <a:t>RF-07</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Servidores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Registrar, editar y desactivar servidores, con credenciales cifradas.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Alta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3 · REQUERIMIENTOS FUNCIONALES Y NO FUNCIONALES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Requerimientos no funcionales</a:t>
            </a:r>
            <a:endParaRPr lang="en-US" sz="3600" dirty="0"/>
          </a:p>
        </p:txBody>
      </p:sp>
      <p:sp>
        <p:nvSpPr>
          <p:cNvPr id="4" name="Tarjeta 114"/>
          <p:cNvSpPr/>
          <p:nvPr/>
        </p:nvSpPr>
        <p:spPr>
          <a:xfrm>
            <a:off x="548640" y="1691640"/>
            <a:ext cx="3566160" cy="2103120"/>
          </a:xfrm>
          <a:prstGeom prst="roundRect">
            <a:avLst>
              <a:gd name="adj" fmla="val 4348"/>
            </a:avLst>
          </a:prstGeom>
          <a:solidFill>
            <a:schemeClr val="bg2"/>
          </a:solidFill>
          <a:ln/>
        </p:spPr>
      </p:sp>
      <p:sp>
        <p:nvSpPr>
          <p:cNvPr id="5" name="Icono fondo 115"/>
          <p:cNvSpPr/>
          <p:nvPr/>
        </p:nvSpPr>
        <p:spPr>
          <a:xfrm>
            <a:off x="822960" y="1965960"/>
            <a:ext cx="548640" cy="548640"/>
          </a:xfrm>
          <a:prstGeom prst="ellipse">
            <a:avLst/>
          </a:prstGeom>
          <a:solidFill>
            <a:schemeClr val="accent2"/>
          </a:solidFill>
          <a:ln/>
        </p:spPr>
      </p:sp>
      <p:pic>
        <p:nvPicPr>
          <p:cNvPr id="6" name="Icono 116" descr="FaUniversalAccess">    </p:cNvPr>
          <p:cNvPicPr>
            <a:picLocks noChangeAspect="1"/>
          </p:cNvPicPr>
          <p:nvPr/>
        </p:nvPicPr>
        <p:blipFill>
          <a:blip r:embed="rId1"/>
          <a:stretch>
            <a:fillRect/>
          </a:stretch>
        </p:blipFill>
        <p:spPr>
          <a:xfrm>
            <a:off x="960120" y="2103120"/>
            <a:ext cx="274320" cy="274320"/>
          </a:xfrm>
          <a:prstGeom prst="rect">
            <a:avLst/>
          </a:prstGeom>
        </p:spPr>
      </p:pic>
      <p:sp>
        <p:nvSpPr>
          <p:cNvPr id="7" name="Texto 117"/>
          <p:cNvSpPr txBox="1"/>
          <p:nvPr/>
        </p:nvSpPr>
        <p:spPr>
          <a:xfrm>
            <a:off x="1554480" y="1965960"/>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RNF-01 · Usabilidad</a:t>
            </a:r>
            <a:endParaRPr lang="en-US" sz="1600" dirty="0"/>
          </a:p>
        </p:txBody>
      </p:sp>
      <p:sp>
        <p:nvSpPr>
          <p:cNvPr id="8" name="Texto 118"/>
          <p:cNvSpPr txBox="1"/>
          <p:nvPr/>
        </p:nvSpPr>
        <p:spPr>
          <a:xfrm>
            <a:off x="822960" y="2697480"/>
            <a:ext cx="3017520" cy="1005840"/>
          </a:xfrm>
          <a:prstGeom prst="rect">
            <a:avLst/>
          </a:prstGeom>
          <a:noFill/>
          <a:ln/>
        </p:spPr>
        <p:txBody>
          <a:bodyPr wrap="square" lIns="0" tIns="0" rIns="0" bIns="0" rtlCol="0" anchor="t"/>
          <a:lstStyle/>
          <a:p>
            <a:pPr indent="0" marL="0">
              <a:buNone/>
            </a:pPr>
            <a:r>
              <a:rPr lang="en-US" sz="1600" dirty="0">
                <a:solidFill>
                  <a:schemeClr val="tx1"/>
                </a:solidFill>
              </a:rPr>
              <a:t>Interfaz clara que muestra el estado sin exigir conocimientos técnicos.</a:t>
            </a:r>
            <a:endParaRPr lang="en-US" sz="1600" dirty="0"/>
          </a:p>
        </p:txBody>
      </p:sp>
      <p:sp>
        <p:nvSpPr>
          <p:cNvPr id="9" name="Tarjeta 119"/>
          <p:cNvSpPr/>
          <p:nvPr/>
        </p:nvSpPr>
        <p:spPr>
          <a:xfrm>
            <a:off x="4297680" y="1691640"/>
            <a:ext cx="3566160" cy="2103120"/>
          </a:xfrm>
          <a:prstGeom prst="roundRect">
            <a:avLst>
              <a:gd name="adj" fmla="val 4348"/>
            </a:avLst>
          </a:prstGeom>
          <a:solidFill>
            <a:schemeClr val="bg2"/>
          </a:solidFill>
          <a:ln/>
        </p:spPr>
      </p:sp>
      <p:sp>
        <p:nvSpPr>
          <p:cNvPr id="10" name="Icono fondo 120"/>
          <p:cNvSpPr/>
          <p:nvPr/>
        </p:nvSpPr>
        <p:spPr>
          <a:xfrm>
            <a:off x="4572000" y="1965960"/>
            <a:ext cx="548640" cy="548640"/>
          </a:xfrm>
          <a:prstGeom prst="ellipse">
            <a:avLst/>
          </a:prstGeom>
          <a:solidFill>
            <a:schemeClr val="accent2"/>
          </a:solidFill>
          <a:ln/>
        </p:spPr>
      </p:sp>
      <p:pic>
        <p:nvPicPr>
          <p:cNvPr id="11" name="Icono 121" descr="FaTachometerAlt">    </p:cNvPr>
          <p:cNvPicPr>
            <a:picLocks noChangeAspect="1"/>
          </p:cNvPicPr>
          <p:nvPr/>
        </p:nvPicPr>
        <p:blipFill>
          <a:blip r:embed="rId2"/>
          <a:stretch>
            <a:fillRect/>
          </a:stretch>
        </p:blipFill>
        <p:spPr>
          <a:xfrm>
            <a:off x="4709160" y="2103120"/>
            <a:ext cx="274320" cy="274320"/>
          </a:xfrm>
          <a:prstGeom prst="rect">
            <a:avLst/>
          </a:prstGeom>
        </p:spPr>
      </p:pic>
      <p:sp>
        <p:nvSpPr>
          <p:cNvPr id="12" name="Texto 122"/>
          <p:cNvSpPr txBox="1"/>
          <p:nvPr/>
        </p:nvSpPr>
        <p:spPr>
          <a:xfrm>
            <a:off x="5303520" y="1965960"/>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RNF-02 · Rendimiento</a:t>
            </a:r>
            <a:endParaRPr lang="en-US" sz="1600" dirty="0"/>
          </a:p>
        </p:txBody>
      </p:sp>
      <p:sp>
        <p:nvSpPr>
          <p:cNvPr id="13" name="Texto 123"/>
          <p:cNvSpPr txBox="1"/>
          <p:nvPr/>
        </p:nvSpPr>
        <p:spPr>
          <a:xfrm>
            <a:off x="4572000" y="2697480"/>
            <a:ext cx="3017520" cy="1005840"/>
          </a:xfrm>
          <a:prstGeom prst="rect">
            <a:avLst/>
          </a:prstGeom>
          <a:noFill/>
          <a:ln/>
        </p:spPr>
        <p:txBody>
          <a:bodyPr wrap="square" lIns="0" tIns="0" rIns="0" bIns="0" rtlCol="0" anchor="t"/>
          <a:lstStyle/>
          <a:p>
            <a:pPr indent="0" marL="0">
              <a:buNone/>
            </a:pPr>
            <a:r>
              <a:rPr lang="en-US" sz="1600" dirty="0">
                <a:solidFill>
                  <a:schemeClr val="tx1"/>
                </a:solidFill>
              </a:rPr>
              <a:t>El monitoreo no debe consumir más del 5% de CPU adicional.</a:t>
            </a:r>
            <a:endParaRPr lang="en-US" sz="1600" dirty="0"/>
          </a:p>
        </p:txBody>
      </p:sp>
      <p:sp>
        <p:nvSpPr>
          <p:cNvPr id="14" name="Tarjeta 124"/>
          <p:cNvSpPr/>
          <p:nvPr/>
        </p:nvSpPr>
        <p:spPr>
          <a:xfrm>
            <a:off x="8046720" y="1691640"/>
            <a:ext cx="3566160" cy="2103120"/>
          </a:xfrm>
          <a:prstGeom prst="roundRect">
            <a:avLst>
              <a:gd name="adj" fmla="val 4348"/>
            </a:avLst>
          </a:prstGeom>
          <a:solidFill>
            <a:schemeClr val="bg2"/>
          </a:solidFill>
          <a:ln/>
        </p:spPr>
      </p:sp>
      <p:sp>
        <p:nvSpPr>
          <p:cNvPr id="15" name="Icono fondo 125"/>
          <p:cNvSpPr/>
          <p:nvPr/>
        </p:nvSpPr>
        <p:spPr>
          <a:xfrm>
            <a:off x="8321040" y="1965960"/>
            <a:ext cx="548640" cy="548640"/>
          </a:xfrm>
          <a:prstGeom prst="ellipse">
            <a:avLst/>
          </a:prstGeom>
          <a:solidFill>
            <a:schemeClr val="accent2"/>
          </a:solidFill>
          <a:ln/>
        </p:spPr>
      </p:sp>
      <p:pic>
        <p:nvPicPr>
          <p:cNvPr id="16" name="Icono 126" descr="FaLock">    </p:cNvPr>
          <p:cNvPicPr>
            <a:picLocks noChangeAspect="1"/>
          </p:cNvPicPr>
          <p:nvPr/>
        </p:nvPicPr>
        <p:blipFill>
          <a:blip r:embed="rId3"/>
          <a:stretch>
            <a:fillRect/>
          </a:stretch>
        </p:blipFill>
        <p:spPr>
          <a:xfrm>
            <a:off x="8458200" y="2103120"/>
            <a:ext cx="274320" cy="274320"/>
          </a:xfrm>
          <a:prstGeom prst="rect">
            <a:avLst/>
          </a:prstGeom>
        </p:spPr>
      </p:pic>
      <p:sp>
        <p:nvSpPr>
          <p:cNvPr id="17" name="Texto 127"/>
          <p:cNvSpPr txBox="1"/>
          <p:nvPr/>
        </p:nvSpPr>
        <p:spPr>
          <a:xfrm>
            <a:off x="9052560" y="1965960"/>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RNF-03 · Seguridad</a:t>
            </a:r>
            <a:endParaRPr lang="en-US" sz="1600" dirty="0"/>
          </a:p>
        </p:txBody>
      </p:sp>
      <p:sp>
        <p:nvSpPr>
          <p:cNvPr id="18" name="Texto 128"/>
          <p:cNvSpPr txBox="1"/>
          <p:nvPr/>
        </p:nvSpPr>
        <p:spPr>
          <a:xfrm>
            <a:off x="8321040" y="2697480"/>
            <a:ext cx="3017520" cy="1005840"/>
          </a:xfrm>
          <a:prstGeom prst="rect">
            <a:avLst/>
          </a:prstGeom>
          <a:noFill/>
          <a:ln/>
        </p:spPr>
        <p:txBody>
          <a:bodyPr wrap="square" lIns="0" tIns="0" rIns="0" bIns="0" rtlCol="0" anchor="t"/>
          <a:lstStyle/>
          <a:p>
            <a:pPr indent="0" marL="0">
              <a:buNone/>
            </a:pPr>
            <a:r>
              <a:rPr lang="en-US" sz="1600" dirty="0">
                <a:solidFill>
                  <a:schemeClr val="tx1"/>
                </a:solidFill>
              </a:rPr>
              <a:t>Login obligatorio, contraseñas con hash y credenciales de servidores cifradas.</a:t>
            </a:r>
            <a:endParaRPr lang="en-US" sz="1600" dirty="0"/>
          </a:p>
        </p:txBody>
      </p:sp>
      <p:sp>
        <p:nvSpPr>
          <p:cNvPr id="19" name="Tarjeta 129"/>
          <p:cNvSpPr/>
          <p:nvPr/>
        </p:nvSpPr>
        <p:spPr>
          <a:xfrm>
            <a:off x="548640" y="4023360"/>
            <a:ext cx="3566160" cy="2103120"/>
          </a:xfrm>
          <a:prstGeom prst="roundRect">
            <a:avLst>
              <a:gd name="adj" fmla="val 4348"/>
            </a:avLst>
          </a:prstGeom>
          <a:solidFill>
            <a:schemeClr val="bg2"/>
          </a:solidFill>
          <a:ln/>
        </p:spPr>
      </p:sp>
      <p:sp>
        <p:nvSpPr>
          <p:cNvPr id="20" name="Icono fondo 130"/>
          <p:cNvSpPr/>
          <p:nvPr/>
        </p:nvSpPr>
        <p:spPr>
          <a:xfrm>
            <a:off x="822960" y="4297680"/>
            <a:ext cx="548640" cy="548640"/>
          </a:xfrm>
          <a:prstGeom prst="ellipse">
            <a:avLst/>
          </a:prstGeom>
          <a:solidFill>
            <a:schemeClr val="accent2"/>
          </a:solidFill>
          <a:ln/>
        </p:spPr>
      </p:sp>
      <p:pic>
        <p:nvPicPr>
          <p:cNvPr id="21" name="Icono 131" descr="FaDesktop">    </p:cNvPr>
          <p:cNvPicPr>
            <a:picLocks noChangeAspect="1"/>
          </p:cNvPicPr>
          <p:nvPr/>
        </p:nvPicPr>
        <p:blipFill>
          <a:blip r:embed="rId4"/>
          <a:stretch>
            <a:fillRect/>
          </a:stretch>
        </p:blipFill>
        <p:spPr>
          <a:xfrm>
            <a:off x="960120" y="4434840"/>
            <a:ext cx="274320" cy="274320"/>
          </a:xfrm>
          <a:prstGeom prst="rect">
            <a:avLst/>
          </a:prstGeom>
        </p:spPr>
      </p:pic>
      <p:sp>
        <p:nvSpPr>
          <p:cNvPr id="22" name="Texto 132"/>
          <p:cNvSpPr txBox="1"/>
          <p:nvPr/>
        </p:nvSpPr>
        <p:spPr>
          <a:xfrm>
            <a:off x="1554480" y="4297680"/>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RNF-04 · Compatibilidad</a:t>
            </a:r>
            <a:endParaRPr lang="en-US" sz="1600" dirty="0"/>
          </a:p>
        </p:txBody>
      </p:sp>
      <p:sp>
        <p:nvSpPr>
          <p:cNvPr id="23" name="Texto 133"/>
          <p:cNvSpPr txBox="1"/>
          <p:nvPr/>
        </p:nvSpPr>
        <p:spPr>
          <a:xfrm>
            <a:off x="822960" y="5029200"/>
            <a:ext cx="3017520" cy="1005840"/>
          </a:xfrm>
          <a:prstGeom prst="rect">
            <a:avLst/>
          </a:prstGeom>
          <a:noFill/>
          <a:ln/>
        </p:spPr>
        <p:txBody>
          <a:bodyPr wrap="square" lIns="0" tIns="0" rIns="0" bIns="0" rtlCol="0" anchor="t"/>
          <a:lstStyle/>
          <a:p>
            <a:pPr indent="0" marL="0">
              <a:buNone/>
            </a:pPr>
            <a:r>
              <a:rPr lang="en-US" sz="1600" dirty="0">
                <a:solidFill>
                  <a:schemeClr val="tx1"/>
                </a:solidFill>
              </a:rPr>
              <a:t>Funciona en equipos con y sin batería, sin errores.</a:t>
            </a:r>
            <a:endParaRPr lang="en-US" sz="1600" dirty="0"/>
          </a:p>
        </p:txBody>
      </p:sp>
      <p:sp>
        <p:nvSpPr>
          <p:cNvPr id="24" name="Tarjeta 134"/>
          <p:cNvSpPr/>
          <p:nvPr/>
        </p:nvSpPr>
        <p:spPr>
          <a:xfrm>
            <a:off x="4297680" y="4023360"/>
            <a:ext cx="3566160" cy="2103120"/>
          </a:xfrm>
          <a:prstGeom prst="roundRect">
            <a:avLst>
              <a:gd name="adj" fmla="val 4348"/>
            </a:avLst>
          </a:prstGeom>
          <a:solidFill>
            <a:schemeClr val="bg2"/>
          </a:solidFill>
          <a:ln/>
        </p:spPr>
      </p:sp>
      <p:sp>
        <p:nvSpPr>
          <p:cNvPr id="25" name="Icono fondo 135"/>
          <p:cNvSpPr/>
          <p:nvPr/>
        </p:nvSpPr>
        <p:spPr>
          <a:xfrm>
            <a:off x="4572000" y="4297680"/>
            <a:ext cx="548640" cy="548640"/>
          </a:xfrm>
          <a:prstGeom prst="ellipse">
            <a:avLst/>
          </a:prstGeom>
          <a:solidFill>
            <a:schemeClr val="accent2"/>
          </a:solidFill>
          <a:ln/>
        </p:spPr>
      </p:sp>
      <p:pic>
        <p:nvPicPr>
          <p:cNvPr id="26" name="Icono 136" descr="FaLayerGroup">    </p:cNvPr>
          <p:cNvPicPr>
            <a:picLocks noChangeAspect="1"/>
          </p:cNvPicPr>
          <p:nvPr/>
        </p:nvPicPr>
        <p:blipFill>
          <a:blip r:embed="rId5"/>
          <a:stretch>
            <a:fillRect/>
          </a:stretch>
        </p:blipFill>
        <p:spPr>
          <a:xfrm>
            <a:off x="4709160" y="4434840"/>
            <a:ext cx="274320" cy="274320"/>
          </a:xfrm>
          <a:prstGeom prst="rect">
            <a:avLst/>
          </a:prstGeom>
        </p:spPr>
      </p:pic>
      <p:sp>
        <p:nvSpPr>
          <p:cNvPr id="27" name="Texto 137"/>
          <p:cNvSpPr txBox="1"/>
          <p:nvPr/>
        </p:nvSpPr>
        <p:spPr>
          <a:xfrm>
            <a:off x="5303520" y="4297680"/>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RNF-05 · Escalabilidad</a:t>
            </a:r>
            <a:endParaRPr lang="en-US" sz="1600" dirty="0"/>
          </a:p>
        </p:txBody>
      </p:sp>
      <p:sp>
        <p:nvSpPr>
          <p:cNvPr id="28" name="Texto 138"/>
          <p:cNvSpPr txBox="1"/>
          <p:nvPr/>
        </p:nvSpPr>
        <p:spPr>
          <a:xfrm>
            <a:off x="4572000" y="5029200"/>
            <a:ext cx="3017520" cy="1005840"/>
          </a:xfrm>
          <a:prstGeom prst="rect">
            <a:avLst/>
          </a:prstGeom>
          <a:noFill/>
          <a:ln/>
        </p:spPr>
        <p:txBody>
          <a:bodyPr wrap="square" lIns="0" tIns="0" rIns="0" bIns="0" rtlCol="0" anchor="t"/>
          <a:lstStyle/>
          <a:p>
            <a:pPr indent="0" marL="0">
              <a:buNone/>
            </a:pPr>
            <a:r>
              <a:rPr lang="en-US" sz="1600" dirty="0">
                <a:solidFill>
                  <a:schemeClr val="tx1"/>
                </a:solidFill>
              </a:rPr>
              <a:t>Agregar métricas o módulos sin reescribir las demás capas.</a:t>
            </a:r>
            <a:endParaRPr lang="en-US" sz="1600" dirty="0"/>
          </a:p>
        </p:txBody>
      </p:sp>
      <p:sp>
        <p:nvSpPr>
          <p:cNvPr id="29" name="Tarjeta 139"/>
          <p:cNvSpPr/>
          <p:nvPr/>
        </p:nvSpPr>
        <p:spPr>
          <a:xfrm>
            <a:off x="8046720" y="4023360"/>
            <a:ext cx="3566160" cy="2103120"/>
          </a:xfrm>
          <a:prstGeom prst="roundRect">
            <a:avLst>
              <a:gd name="adj" fmla="val 4348"/>
            </a:avLst>
          </a:prstGeom>
          <a:solidFill>
            <a:schemeClr val="bg2"/>
          </a:solidFill>
          <a:ln/>
        </p:spPr>
      </p:sp>
      <p:sp>
        <p:nvSpPr>
          <p:cNvPr id="30" name="Icono fondo 140"/>
          <p:cNvSpPr/>
          <p:nvPr/>
        </p:nvSpPr>
        <p:spPr>
          <a:xfrm>
            <a:off x="8321040" y="4297680"/>
            <a:ext cx="548640" cy="548640"/>
          </a:xfrm>
          <a:prstGeom prst="ellipse">
            <a:avLst/>
          </a:prstGeom>
          <a:solidFill>
            <a:schemeClr val="accent2"/>
          </a:solidFill>
          <a:ln/>
        </p:spPr>
      </p:sp>
      <p:pic>
        <p:nvPicPr>
          <p:cNvPr id="31" name="Icono 141" descr="FaTools">    </p:cNvPr>
          <p:cNvPicPr>
            <a:picLocks noChangeAspect="1"/>
          </p:cNvPicPr>
          <p:nvPr/>
        </p:nvPicPr>
        <p:blipFill>
          <a:blip r:embed="rId6"/>
          <a:stretch>
            <a:fillRect/>
          </a:stretch>
        </p:blipFill>
        <p:spPr>
          <a:xfrm>
            <a:off x="8458200" y="4434840"/>
            <a:ext cx="274320" cy="274320"/>
          </a:xfrm>
          <a:prstGeom prst="rect">
            <a:avLst/>
          </a:prstGeom>
        </p:spPr>
      </p:pic>
      <p:sp>
        <p:nvSpPr>
          <p:cNvPr id="32" name="Texto 142"/>
          <p:cNvSpPr txBox="1"/>
          <p:nvPr/>
        </p:nvSpPr>
        <p:spPr>
          <a:xfrm>
            <a:off x="9052560" y="4297680"/>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RNF-06 · Mantenibilidad</a:t>
            </a:r>
            <a:endParaRPr lang="en-US" sz="1600" dirty="0"/>
          </a:p>
        </p:txBody>
      </p:sp>
      <p:sp>
        <p:nvSpPr>
          <p:cNvPr id="33" name="Texto 143"/>
          <p:cNvSpPr txBox="1"/>
          <p:nvPr/>
        </p:nvSpPr>
        <p:spPr>
          <a:xfrm>
            <a:off x="8321040" y="5029200"/>
            <a:ext cx="3017520" cy="1005840"/>
          </a:xfrm>
          <a:prstGeom prst="rect">
            <a:avLst/>
          </a:prstGeom>
          <a:noFill/>
          <a:ln/>
        </p:spPr>
        <p:txBody>
          <a:bodyPr wrap="square" lIns="0" tIns="0" rIns="0" bIns="0" rtlCol="0" anchor="t"/>
          <a:lstStyle/>
          <a:p>
            <a:pPr indent="0" marL="0">
              <a:buNone/>
            </a:pPr>
            <a:r>
              <a:rPr lang="en-US" sz="1600" dirty="0">
                <a:solidFill>
                  <a:schemeClr val="tx1"/>
                </a:solidFill>
              </a:rPr>
              <a:t>Código por capas y módulos: usuarios, servidores y monitoreo.</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4 · FLUJOS Y MOCKUPS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Flujo general del sistema</a:t>
            </a:r>
            <a:endParaRPr lang="en-US" sz="3600" dirty="0"/>
          </a:p>
        </p:txBody>
      </p:sp>
      <p:pic>
        <p:nvPicPr>
          <p:cNvPr id="4" name="Figura 144" descr="Diagrama de flujo general: inicio de sesión, leer recursos, evaluar alertas, guardar reporte y mostrar reporte, con ciclo de Polling">    </p:cNvPr>
          <p:cNvPicPr>
            <a:picLocks noChangeAspect="1"/>
          </p:cNvPicPr>
          <p:nvPr/>
        </p:nvPicPr>
        <p:blipFill>
          <a:blip r:embed="rId1"/>
          <a:stretch>
            <a:fillRect/>
          </a:stretch>
        </p:blipFill>
        <p:spPr>
          <a:xfrm>
            <a:off x="548640" y="1691640"/>
            <a:ext cx="2807368" cy="4572000"/>
          </a:xfrm>
          <a:prstGeom prst="rect">
            <a:avLst/>
          </a:prstGeom>
        </p:spPr>
      </p:pic>
      <p:sp>
        <p:nvSpPr>
          <p:cNvPr id="5" name="Tarjeta 145"/>
          <p:cNvSpPr/>
          <p:nvPr/>
        </p:nvSpPr>
        <p:spPr>
          <a:xfrm>
            <a:off x="4023360" y="1691640"/>
            <a:ext cx="7589520" cy="676656"/>
          </a:xfrm>
          <a:prstGeom prst="roundRect">
            <a:avLst>
              <a:gd name="adj" fmla="val 13514"/>
            </a:avLst>
          </a:prstGeom>
          <a:solidFill>
            <a:schemeClr val="bg2"/>
          </a:solidFill>
          <a:ln/>
        </p:spPr>
      </p:sp>
      <p:sp>
        <p:nvSpPr>
          <p:cNvPr id="6" name="Insignia 146"/>
          <p:cNvSpPr/>
          <p:nvPr/>
        </p:nvSpPr>
        <p:spPr>
          <a:xfrm>
            <a:off x="4187952" y="1819656"/>
            <a:ext cx="420624" cy="420624"/>
          </a:xfrm>
          <a:prstGeom prst="ellipse">
            <a:avLst/>
          </a:prstGeom>
          <a:solidFill>
            <a:schemeClr val="tx2"/>
          </a:solidFill>
          <a:ln/>
        </p:spPr>
      </p:sp>
      <p:sp>
        <p:nvSpPr>
          <p:cNvPr id="7" name="Insignia texto 147"/>
          <p:cNvSpPr txBox="1"/>
          <p:nvPr/>
        </p:nvSpPr>
        <p:spPr>
          <a:xfrm>
            <a:off x="4187952" y="18196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o 148"/>
          <p:cNvSpPr txBox="1"/>
          <p:nvPr/>
        </p:nvSpPr>
        <p:spPr>
          <a:xfrm>
            <a:off x="4800600" y="1755648"/>
            <a:ext cx="4754880" cy="292608"/>
          </a:xfrm>
          <a:prstGeom prst="rect">
            <a:avLst/>
          </a:prstGeom>
          <a:noFill/>
          <a:ln/>
        </p:spPr>
        <p:txBody>
          <a:bodyPr wrap="square" lIns="0" tIns="0" rIns="0" bIns="0" rtlCol="0" anchor="t"/>
          <a:lstStyle/>
          <a:p>
            <a:pPr indent="0" marL="0">
              <a:buNone/>
            </a:pPr>
            <a:r>
              <a:rPr lang="en-US" sz="1600" b="1" dirty="0">
                <a:solidFill>
                  <a:schemeClr val="tx2"/>
                </a:solidFill>
              </a:rPr>
              <a:t>Inicio de sesión</a:t>
            </a:r>
            <a:endParaRPr lang="en-US" sz="1600" dirty="0"/>
          </a:p>
        </p:txBody>
      </p:sp>
      <p:sp>
        <p:nvSpPr>
          <p:cNvPr id="9" name="Texto 149"/>
          <p:cNvSpPr txBox="1"/>
          <p:nvPr/>
        </p:nvSpPr>
        <p:spPr>
          <a:xfrm>
            <a:off x="4800600" y="2057400"/>
            <a:ext cx="4754880" cy="274320"/>
          </a:xfrm>
          <a:prstGeom prst="rect">
            <a:avLst/>
          </a:prstGeom>
          <a:noFill/>
          <a:ln/>
        </p:spPr>
        <p:txBody>
          <a:bodyPr wrap="square" lIns="0" tIns="0" rIns="0" bIns="0" rtlCol="0" anchor="t"/>
          <a:lstStyle/>
          <a:p>
            <a:pPr indent="0" marL="0">
              <a:buNone/>
            </a:pPr>
            <a:r>
              <a:rPr lang="en-US" sz="1400" dirty="0">
                <a:solidFill>
                  <a:schemeClr val="accent6"/>
                </a:solidFill>
              </a:rPr>
              <a:t>Valida usuario y contraseña</a:t>
            </a:r>
            <a:endParaRPr lang="en-US" sz="1400" dirty="0"/>
          </a:p>
        </p:txBody>
      </p:sp>
      <p:sp>
        <p:nvSpPr>
          <p:cNvPr id="10" name="Texto 150"/>
          <p:cNvSpPr txBox="1"/>
          <p:nvPr/>
        </p:nvSpPr>
        <p:spPr>
          <a:xfrm>
            <a:off x="9692640" y="1691640"/>
            <a:ext cx="1737360" cy="676656"/>
          </a:xfrm>
          <a:prstGeom prst="rect">
            <a:avLst/>
          </a:prstGeom>
          <a:noFill/>
          <a:ln/>
        </p:spPr>
        <p:txBody>
          <a:bodyPr wrap="square" lIns="0" tIns="0" rIns="0" bIns="0" rtlCol="0" anchor="ctr"/>
          <a:lstStyle/>
          <a:p>
            <a:pPr algn="r" indent="0" marL="0">
              <a:buNone/>
            </a:pPr>
            <a:r>
              <a:rPr lang="en-US" sz="1400" b="1" dirty="0">
                <a:solidFill>
                  <a:schemeClr val="accent4"/>
                </a:solidFill>
              </a:rPr>
              <a:t>RF-01</a:t>
            </a:r>
            <a:endParaRPr lang="en-US" sz="1400" dirty="0"/>
          </a:p>
        </p:txBody>
      </p:sp>
      <p:sp>
        <p:nvSpPr>
          <p:cNvPr id="11" name="Tarjeta 151"/>
          <p:cNvSpPr/>
          <p:nvPr/>
        </p:nvSpPr>
        <p:spPr>
          <a:xfrm>
            <a:off x="4023360" y="2441448"/>
            <a:ext cx="7589520" cy="676656"/>
          </a:xfrm>
          <a:prstGeom prst="roundRect">
            <a:avLst>
              <a:gd name="adj" fmla="val 13514"/>
            </a:avLst>
          </a:prstGeom>
          <a:solidFill>
            <a:schemeClr val="bg2"/>
          </a:solidFill>
          <a:ln/>
        </p:spPr>
      </p:sp>
      <p:sp>
        <p:nvSpPr>
          <p:cNvPr id="12" name="Insignia 152"/>
          <p:cNvSpPr/>
          <p:nvPr/>
        </p:nvSpPr>
        <p:spPr>
          <a:xfrm>
            <a:off x="4187952" y="2569464"/>
            <a:ext cx="420624" cy="420624"/>
          </a:xfrm>
          <a:prstGeom prst="ellipse">
            <a:avLst/>
          </a:prstGeom>
          <a:solidFill>
            <a:schemeClr val="tx2"/>
          </a:solidFill>
          <a:ln/>
        </p:spPr>
      </p:sp>
      <p:sp>
        <p:nvSpPr>
          <p:cNvPr id="13" name="Insignia texto 153"/>
          <p:cNvSpPr txBox="1"/>
          <p:nvPr/>
        </p:nvSpPr>
        <p:spPr>
          <a:xfrm>
            <a:off x="4187952" y="256946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o 154"/>
          <p:cNvSpPr txBox="1"/>
          <p:nvPr/>
        </p:nvSpPr>
        <p:spPr>
          <a:xfrm>
            <a:off x="4800600" y="2505456"/>
            <a:ext cx="4754880" cy="292608"/>
          </a:xfrm>
          <a:prstGeom prst="rect">
            <a:avLst/>
          </a:prstGeom>
          <a:noFill/>
          <a:ln/>
        </p:spPr>
        <p:txBody>
          <a:bodyPr wrap="square" lIns="0" tIns="0" rIns="0" bIns="0" rtlCol="0" anchor="t"/>
          <a:lstStyle/>
          <a:p>
            <a:pPr indent="0" marL="0">
              <a:buNone/>
            </a:pPr>
            <a:r>
              <a:rPr lang="en-US" sz="1600" b="1" dirty="0">
                <a:solidFill>
                  <a:schemeClr val="tx2"/>
                </a:solidFill>
              </a:rPr>
              <a:t>Leer recursos (Modelo)</a:t>
            </a:r>
            <a:endParaRPr lang="en-US" sz="1600" dirty="0"/>
          </a:p>
        </p:txBody>
      </p:sp>
      <p:sp>
        <p:nvSpPr>
          <p:cNvPr id="15" name="Texto 155"/>
          <p:cNvSpPr txBox="1"/>
          <p:nvPr/>
        </p:nvSpPr>
        <p:spPr>
          <a:xfrm>
            <a:off x="4800600" y="2807208"/>
            <a:ext cx="4754880" cy="274320"/>
          </a:xfrm>
          <a:prstGeom prst="rect">
            <a:avLst/>
          </a:prstGeom>
          <a:noFill/>
          <a:ln/>
        </p:spPr>
        <p:txBody>
          <a:bodyPr wrap="square" lIns="0" tIns="0" rIns="0" bIns="0" rtlCol="0" anchor="t"/>
          <a:lstStyle/>
          <a:p>
            <a:pPr indent="0" marL="0">
              <a:buNone/>
            </a:pPr>
            <a:r>
              <a:rPr lang="en-US" sz="1400" dirty="0">
                <a:solidFill>
                  <a:schemeClr val="accent6"/>
                </a:solidFill>
              </a:rPr>
              <a:t>psutil lee CPU, RAM, disco y batería</a:t>
            </a:r>
            <a:endParaRPr lang="en-US" sz="1400" dirty="0"/>
          </a:p>
        </p:txBody>
      </p:sp>
      <p:sp>
        <p:nvSpPr>
          <p:cNvPr id="16" name="Texto 156"/>
          <p:cNvSpPr txBox="1"/>
          <p:nvPr/>
        </p:nvSpPr>
        <p:spPr>
          <a:xfrm>
            <a:off x="9692640" y="2441448"/>
            <a:ext cx="1737360" cy="676656"/>
          </a:xfrm>
          <a:prstGeom prst="rect">
            <a:avLst/>
          </a:prstGeom>
          <a:noFill/>
          <a:ln/>
        </p:spPr>
        <p:txBody>
          <a:bodyPr wrap="square" lIns="0" tIns="0" rIns="0" bIns="0" rtlCol="0" anchor="ctr"/>
          <a:lstStyle/>
          <a:p>
            <a:pPr algn="r" indent="0" marL="0">
              <a:buNone/>
            </a:pPr>
            <a:r>
              <a:rPr lang="en-US" sz="1400" b="1" dirty="0">
                <a:solidFill>
                  <a:schemeClr val="accent4"/>
                </a:solidFill>
              </a:rPr>
              <a:t>RF-02</a:t>
            </a:r>
            <a:endParaRPr lang="en-US" sz="1400" dirty="0"/>
          </a:p>
        </p:txBody>
      </p:sp>
      <p:sp>
        <p:nvSpPr>
          <p:cNvPr id="17" name="Tarjeta 157"/>
          <p:cNvSpPr/>
          <p:nvPr/>
        </p:nvSpPr>
        <p:spPr>
          <a:xfrm>
            <a:off x="4023360" y="3191256"/>
            <a:ext cx="7589520" cy="676656"/>
          </a:xfrm>
          <a:prstGeom prst="roundRect">
            <a:avLst>
              <a:gd name="adj" fmla="val 13514"/>
            </a:avLst>
          </a:prstGeom>
          <a:solidFill>
            <a:schemeClr val="bg2"/>
          </a:solidFill>
          <a:ln/>
        </p:spPr>
      </p:sp>
      <p:sp>
        <p:nvSpPr>
          <p:cNvPr id="18" name="Insignia 158"/>
          <p:cNvSpPr/>
          <p:nvPr/>
        </p:nvSpPr>
        <p:spPr>
          <a:xfrm>
            <a:off x="4187952" y="3319272"/>
            <a:ext cx="420624" cy="420624"/>
          </a:xfrm>
          <a:prstGeom prst="ellipse">
            <a:avLst/>
          </a:prstGeom>
          <a:solidFill>
            <a:schemeClr val="tx2"/>
          </a:solidFill>
          <a:ln/>
        </p:spPr>
      </p:sp>
      <p:sp>
        <p:nvSpPr>
          <p:cNvPr id="19" name="Insignia texto 159"/>
          <p:cNvSpPr txBox="1"/>
          <p:nvPr/>
        </p:nvSpPr>
        <p:spPr>
          <a:xfrm>
            <a:off x="4187952" y="33192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o 160"/>
          <p:cNvSpPr txBox="1"/>
          <p:nvPr/>
        </p:nvSpPr>
        <p:spPr>
          <a:xfrm>
            <a:off x="4800600" y="3255264"/>
            <a:ext cx="4754880" cy="292608"/>
          </a:xfrm>
          <a:prstGeom prst="rect">
            <a:avLst/>
          </a:prstGeom>
          <a:noFill/>
          <a:ln/>
        </p:spPr>
        <p:txBody>
          <a:bodyPr wrap="square" lIns="0" tIns="0" rIns="0" bIns="0" rtlCol="0" anchor="t"/>
          <a:lstStyle/>
          <a:p>
            <a:pPr indent="0" marL="0">
              <a:buNone/>
            </a:pPr>
            <a:r>
              <a:rPr lang="en-US" sz="1600" b="1" dirty="0">
                <a:solidFill>
                  <a:schemeClr val="tx2"/>
                </a:solidFill>
              </a:rPr>
              <a:t>Evaluar alertas</a:t>
            </a:r>
            <a:endParaRPr lang="en-US" sz="1600" dirty="0"/>
          </a:p>
        </p:txBody>
      </p:sp>
      <p:sp>
        <p:nvSpPr>
          <p:cNvPr id="21" name="Texto 161"/>
          <p:cNvSpPr txBox="1"/>
          <p:nvPr/>
        </p:nvSpPr>
        <p:spPr>
          <a:xfrm>
            <a:off x="4800600" y="3557016"/>
            <a:ext cx="4754880" cy="274320"/>
          </a:xfrm>
          <a:prstGeom prst="rect">
            <a:avLst/>
          </a:prstGeom>
          <a:noFill/>
          <a:ln/>
        </p:spPr>
        <p:txBody>
          <a:bodyPr wrap="square" lIns="0" tIns="0" rIns="0" bIns="0" rtlCol="0" anchor="t"/>
          <a:lstStyle/>
          <a:p>
            <a:pPr indent="0" marL="0">
              <a:buNone/>
            </a:pPr>
            <a:r>
              <a:rPr lang="en-US" sz="1400" dirty="0">
                <a:solidFill>
                  <a:schemeClr val="accent6"/>
                </a:solidFill>
              </a:rPr>
              <a:t>Compara cada métrica con su umbral</a:t>
            </a:r>
            <a:endParaRPr lang="en-US" sz="1400" dirty="0"/>
          </a:p>
        </p:txBody>
      </p:sp>
      <p:sp>
        <p:nvSpPr>
          <p:cNvPr id="22" name="Texto 162"/>
          <p:cNvSpPr txBox="1"/>
          <p:nvPr/>
        </p:nvSpPr>
        <p:spPr>
          <a:xfrm>
            <a:off x="9692640" y="3191256"/>
            <a:ext cx="1737360" cy="676656"/>
          </a:xfrm>
          <a:prstGeom prst="rect">
            <a:avLst/>
          </a:prstGeom>
          <a:noFill/>
          <a:ln/>
        </p:spPr>
        <p:txBody>
          <a:bodyPr wrap="square" lIns="0" tIns="0" rIns="0" bIns="0" rtlCol="0" anchor="ctr"/>
          <a:lstStyle/>
          <a:p>
            <a:pPr algn="r" indent="0" marL="0">
              <a:buNone/>
            </a:pPr>
            <a:r>
              <a:rPr lang="en-US" sz="1400" b="1" dirty="0">
                <a:solidFill>
                  <a:schemeClr val="accent4"/>
                </a:solidFill>
              </a:rPr>
              <a:t>RF-04</a:t>
            </a:r>
            <a:endParaRPr lang="en-US" sz="1400" dirty="0"/>
          </a:p>
        </p:txBody>
      </p:sp>
      <p:sp>
        <p:nvSpPr>
          <p:cNvPr id="23" name="Tarjeta 163"/>
          <p:cNvSpPr/>
          <p:nvPr/>
        </p:nvSpPr>
        <p:spPr>
          <a:xfrm>
            <a:off x="4023360" y="3941064"/>
            <a:ext cx="7589520" cy="676656"/>
          </a:xfrm>
          <a:prstGeom prst="roundRect">
            <a:avLst>
              <a:gd name="adj" fmla="val 13514"/>
            </a:avLst>
          </a:prstGeom>
          <a:solidFill>
            <a:schemeClr val="bg2"/>
          </a:solidFill>
          <a:ln/>
        </p:spPr>
      </p:sp>
      <p:sp>
        <p:nvSpPr>
          <p:cNvPr id="24" name="Insignia 164"/>
          <p:cNvSpPr/>
          <p:nvPr/>
        </p:nvSpPr>
        <p:spPr>
          <a:xfrm>
            <a:off x="4187952" y="4069080"/>
            <a:ext cx="420624" cy="420624"/>
          </a:xfrm>
          <a:prstGeom prst="ellipse">
            <a:avLst/>
          </a:prstGeom>
          <a:solidFill>
            <a:schemeClr val="tx2"/>
          </a:solidFill>
          <a:ln/>
        </p:spPr>
      </p:sp>
      <p:sp>
        <p:nvSpPr>
          <p:cNvPr id="25" name="Insignia texto 165"/>
          <p:cNvSpPr txBox="1"/>
          <p:nvPr/>
        </p:nvSpPr>
        <p:spPr>
          <a:xfrm>
            <a:off x="4187952" y="4069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6" name="Texto 166"/>
          <p:cNvSpPr txBox="1"/>
          <p:nvPr/>
        </p:nvSpPr>
        <p:spPr>
          <a:xfrm>
            <a:off x="4800600" y="4005072"/>
            <a:ext cx="4754880" cy="292608"/>
          </a:xfrm>
          <a:prstGeom prst="rect">
            <a:avLst/>
          </a:prstGeom>
          <a:noFill/>
          <a:ln/>
        </p:spPr>
        <p:txBody>
          <a:bodyPr wrap="square" lIns="0" tIns="0" rIns="0" bIns="0" rtlCol="0" anchor="t"/>
          <a:lstStyle/>
          <a:p>
            <a:pPr indent="0" marL="0">
              <a:buNone/>
            </a:pPr>
            <a:r>
              <a:rPr lang="en-US" sz="1600" b="1" dirty="0">
                <a:solidFill>
                  <a:schemeClr val="tx2"/>
                </a:solidFill>
              </a:rPr>
              <a:t>Guardar reporte en BD</a:t>
            </a:r>
            <a:endParaRPr lang="en-US" sz="1600" dirty="0"/>
          </a:p>
        </p:txBody>
      </p:sp>
      <p:sp>
        <p:nvSpPr>
          <p:cNvPr id="27" name="Texto 167"/>
          <p:cNvSpPr txBox="1"/>
          <p:nvPr/>
        </p:nvSpPr>
        <p:spPr>
          <a:xfrm>
            <a:off x="4800600" y="4306824"/>
            <a:ext cx="4754880" cy="274320"/>
          </a:xfrm>
          <a:prstGeom prst="rect">
            <a:avLst/>
          </a:prstGeom>
          <a:noFill/>
          <a:ln/>
        </p:spPr>
        <p:txBody>
          <a:bodyPr wrap="square" lIns="0" tIns="0" rIns="0" bIns="0" rtlCol="0" anchor="t"/>
          <a:lstStyle/>
          <a:p>
            <a:pPr indent="0" marL="0">
              <a:buNone/>
            </a:pPr>
            <a:r>
              <a:rPr lang="en-US" sz="1400" dirty="0">
                <a:solidFill>
                  <a:schemeClr val="accent6"/>
                </a:solidFill>
              </a:rPr>
              <a:t>Registra el reporte con fecha y hora</a:t>
            </a:r>
            <a:endParaRPr lang="en-US" sz="1400" dirty="0"/>
          </a:p>
        </p:txBody>
      </p:sp>
      <p:sp>
        <p:nvSpPr>
          <p:cNvPr id="28" name="Texto 168"/>
          <p:cNvSpPr txBox="1"/>
          <p:nvPr/>
        </p:nvSpPr>
        <p:spPr>
          <a:xfrm>
            <a:off x="9692640" y="3941064"/>
            <a:ext cx="1737360" cy="676656"/>
          </a:xfrm>
          <a:prstGeom prst="rect">
            <a:avLst/>
          </a:prstGeom>
          <a:noFill/>
          <a:ln/>
        </p:spPr>
        <p:txBody>
          <a:bodyPr wrap="square" lIns="0" tIns="0" rIns="0" bIns="0" rtlCol="0" anchor="ctr"/>
          <a:lstStyle/>
          <a:p>
            <a:pPr algn="r" indent="0" marL="0">
              <a:buNone/>
            </a:pPr>
            <a:r>
              <a:rPr lang="en-US" sz="1400" b="1" dirty="0">
                <a:solidFill>
                  <a:schemeClr val="accent4"/>
                </a:solidFill>
              </a:rPr>
              <a:t>RF-05</a:t>
            </a:r>
            <a:endParaRPr lang="en-US" sz="1400" dirty="0"/>
          </a:p>
        </p:txBody>
      </p:sp>
      <p:sp>
        <p:nvSpPr>
          <p:cNvPr id="29" name="Tarjeta 169"/>
          <p:cNvSpPr/>
          <p:nvPr/>
        </p:nvSpPr>
        <p:spPr>
          <a:xfrm>
            <a:off x="4023360" y="4690872"/>
            <a:ext cx="7589520" cy="676656"/>
          </a:xfrm>
          <a:prstGeom prst="roundRect">
            <a:avLst>
              <a:gd name="adj" fmla="val 13514"/>
            </a:avLst>
          </a:prstGeom>
          <a:solidFill>
            <a:schemeClr val="bg2"/>
          </a:solidFill>
          <a:ln/>
        </p:spPr>
      </p:sp>
      <p:sp>
        <p:nvSpPr>
          <p:cNvPr id="30" name="Insignia 170"/>
          <p:cNvSpPr/>
          <p:nvPr/>
        </p:nvSpPr>
        <p:spPr>
          <a:xfrm>
            <a:off x="4187952" y="4818888"/>
            <a:ext cx="420624" cy="420624"/>
          </a:xfrm>
          <a:prstGeom prst="ellipse">
            <a:avLst/>
          </a:prstGeom>
          <a:solidFill>
            <a:schemeClr val="tx2"/>
          </a:solidFill>
          <a:ln/>
        </p:spPr>
      </p:sp>
      <p:sp>
        <p:nvSpPr>
          <p:cNvPr id="31" name="Insignia texto 171"/>
          <p:cNvSpPr txBox="1"/>
          <p:nvPr/>
        </p:nvSpPr>
        <p:spPr>
          <a:xfrm>
            <a:off x="4187952" y="481888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2" name="Texto 172"/>
          <p:cNvSpPr txBox="1"/>
          <p:nvPr/>
        </p:nvSpPr>
        <p:spPr>
          <a:xfrm>
            <a:off x="4800600" y="4754880"/>
            <a:ext cx="4754880" cy="292608"/>
          </a:xfrm>
          <a:prstGeom prst="rect">
            <a:avLst/>
          </a:prstGeom>
          <a:noFill/>
          <a:ln/>
        </p:spPr>
        <p:txBody>
          <a:bodyPr wrap="square" lIns="0" tIns="0" rIns="0" bIns="0" rtlCol="0" anchor="t"/>
          <a:lstStyle/>
          <a:p>
            <a:pPr indent="0" marL="0">
              <a:buNone/>
            </a:pPr>
            <a:r>
              <a:rPr lang="en-US" sz="1600" b="1" dirty="0">
                <a:solidFill>
                  <a:schemeClr val="tx2"/>
                </a:solidFill>
              </a:rPr>
              <a:t>Mostrar reporte (Vista)</a:t>
            </a:r>
            <a:endParaRPr lang="en-US" sz="1600" dirty="0"/>
          </a:p>
        </p:txBody>
      </p:sp>
      <p:sp>
        <p:nvSpPr>
          <p:cNvPr id="33" name="Texto 173"/>
          <p:cNvSpPr txBox="1"/>
          <p:nvPr/>
        </p:nvSpPr>
        <p:spPr>
          <a:xfrm>
            <a:off x="4800600" y="5056632"/>
            <a:ext cx="4754880" cy="274320"/>
          </a:xfrm>
          <a:prstGeom prst="rect">
            <a:avLst/>
          </a:prstGeom>
          <a:noFill/>
          <a:ln/>
        </p:spPr>
        <p:txBody>
          <a:bodyPr wrap="square" lIns="0" tIns="0" rIns="0" bIns="0" rtlCol="0" anchor="t"/>
          <a:lstStyle/>
          <a:p>
            <a:pPr indent="0" marL="0">
              <a:buNone/>
            </a:pPr>
            <a:r>
              <a:rPr lang="en-US" sz="1400" dirty="0">
                <a:solidFill>
                  <a:schemeClr val="accent6"/>
                </a:solidFill>
              </a:rPr>
              <a:t>Dashboard con estado actual e historial</a:t>
            </a:r>
            <a:endParaRPr lang="en-US" sz="1400" dirty="0"/>
          </a:p>
        </p:txBody>
      </p:sp>
      <p:sp>
        <p:nvSpPr>
          <p:cNvPr id="34" name="Texto 174"/>
          <p:cNvSpPr txBox="1"/>
          <p:nvPr/>
        </p:nvSpPr>
        <p:spPr>
          <a:xfrm>
            <a:off x="9692640" y="4690872"/>
            <a:ext cx="1737360" cy="676656"/>
          </a:xfrm>
          <a:prstGeom prst="rect">
            <a:avLst/>
          </a:prstGeom>
          <a:noFill/>
          <a:ln/>
        </p:spPr>
        <p:txBody>
          <a:bodyPr wrap="square" lIns="0" tIns="0" rIns="0" bIns="0" rtlCol="0" anchor="ctr"/>
          <a:lstStyle/>
          <a:p>
            <a:pPr algn="r" indent="0" marL="0">
              <a:buNone/>
            </a:pPr>
            <a:r>
              <a:rPr lang="en-US" sz="1400" b="1" dirty="0">
                <a:solidFill>
                  <a:schemeClr val="accent4"/>
                </a:solidFill>
              </a:rPr>
              <a:t>RF-03, RF-06</a:t>
            </a:r>
            <a:endParaRPr lang="en-US" sz="1400" dirty="0"/>
          </a:p>
        </p:txBody>
      </p:sp>
      <p:sp>
        <p:nvSpPr>
          <p:cNvPr id="35" name="Tarjeta 175"/>
          <p:cNvSpPr/>
          <p:nvPr/>
        </p:nvSpPr>
        <p:spPr>
          <a:xfrm>
            <a:off x="4023360" y="5440680"/>
            <a:ext cx="7589520" cy="676656"/>
          </a:xfrm>
          <a:prstGeom prst="roundRect">
            <a:avLst>
              <a:gd name="adj" fmla="val 13514"/>
            </a:avLst>
          </a:prstGeom>
          <a:solidFill>
            <a:schemeClr val="bg2"/>
          </a:solidFill>
          <a:ln/>
        </p:spPr>
      </p:sp>
      <p:sp>
        <p:nvSpPr>
          <p:cNvPr id="36" name="Insignia 176"/>
          <p:cNvSpPr/>
          <p:nvPr/>
        </p:nvSpPr>
        <p:spPr>
          <a:xfrm>
            <a:off x="4187952" y="5568696"/>
            <a:ext cx="420624" cy="420624"/>
          </a:xfrm>
          <a:prstGeom prst="ellipse">
            <a:avLst/>
          </a:prstGeom>
          <a:solidFill>
            <a:schemeClr val="accent6"/>
          </a:solidFill>
          <a:ln/>
        </p:spPr>
      </p:sp>
      <p:sp>
        <p:nvSpPr>
          <p:cNvPr id="37" name="Insignia texto 177"/>
          <p:cNvSpPr txBox="1"/>
          <p:nvPr/>
        </p:nvSpPr>
        <p:spPr>
          <a:xfrm>
            <a:off x="4187952" y="556869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P</a:t>
            </a:r>
            <a:endParaRPr lang="en-US" sz="1500" dirty="0"/>
          </a:p>
        </p:txBody>
      </p:sp>
      <p:sp>
        <p:nvSpPr>
          <p:cNvPr id="38" name="Texto 178"/>
          <p:cNvSpPr txBox="1"/>
          <p:nvPr/>
        </p:nvSpPr>
        <p:spPr>
          <a:xfrm>
            <a:off x="4800600" y="5504688"/>
            <a:ext cx="4754880" cy="292608"/>
          </a:xfrm>
          <a:prstGeom prst="rect">
            <a:avLst/>
          </a:prstGeom>
          <a:noFill/>
          <a:ln/>
        </p:spPr>
        <p:txBody>
          <a:bodyPr wrap="square" lIns="0" tIns="0" rIns="0" bIns="0" rtlCol="0" anchor="t"/>
          <a:lstStyle/>
          <a:p>
            <a:pPr indent="0" marL="0">
              <a:buNone/>
            </a:pPr>
            <a:r>
              <a:rPr lang="en-US" sz="1600" b="1" dirty="0">
                <a:solidFill>
                  <a:schemeClr val="tx2"/>
                </a:solidFill>
              </a:rPr>
              <a:t>Polling (pasos 2 a 5)</a:t>
            </a:r>
            <a:endParaRPr lang="en-US" sz="1600" dirty="0"/>
          </a:p>
        </p:txBody>
      </p:sp>
      <p:sp>
        <p:nvSpPr>
          <p:cNvPr id="39" name="Texto 179"/>
          <p:cNvSpPr txBox="1"/>
          <p:nvPr/>
        </p:nvSpPr>
        <p:spPr>
          <a:xfrm>
            <a:off x="4800600" y="5806440"/>
            <a:ext cx="4754880" cy="274320"/>
          </a:xfrm>
          <a:prstGeom prst="rect">
            <a:avLst/>
          </a:prstGeom>
          <a:noFill/>
          <a:ln/>
        </p:spPr>
        <p:txBody>
          <a:bodyPr wrap="square" lIns="0" tIns="0" rIns="0" bIns="0" rtlCol="0" anchor="t"/>
          <a:lstStyle/>
          <a:p>
            <a:pPr indent="0" marL="0">
              <a:buNone/>
            </a:pPr>
            <a:r>
              <a:rPr lang="en-US" sz="1400" dirty="0">
                <a:solidFill>
                  <a:schemeClr val="accent6"/>
                </a:solidFill>
              </a:rPr>
              <a:t>Se repite cada X segundos</a:t>
            </a:r>
            <a:endParaRPr lang="en-US" sz="1400" dirty="0"/>
          </a:p>
        </p:txBody>
      </p:sp>
      <p:sp>
        <p:nvSpPr>
          <p:cNvPr id="40" name="Texto 180"/>
          <p:cNvSpPr txBox="1"/>
          <p:nvPr/>
        </p:nvSpPr>
        <p:spPr>
          <a:xfrm>
            <a:off x="9692640" y="5440680"/>
            <a:ext cx="1737360" cy="676656"/>
          </a:xfrm>
          <a:prstGeom prst="rect">
            <a:avLst/>
          </a:prstGeom>
          <a:noFill/>
          <a:ln/>
        </p:spPr>
        <p:txBody>
          <a:bodyPr wrap="square" lIns="0" tIns="0" rIns="0" bIns="0" rtlCol="0" anchor="ctr"/>
          <a:lstStyle/>
          <a:p>
            <a:pPr algn="r" indent="0" marL="0">
              <a:buNone/>
            </a:pPr>
            <a:r>
              <a:rPr lang="en-US" sz="1400" b="1" dirty="0">
                <a:solidFill>
                  <a:schemeClr val="accent4"/>
                </a:solidFill>
              </a:rPr>
              <a:t>RNF-02</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4 · FLUJOS Y MOCKUPS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Mockup: inicio de sesión</a:t>
            </a:r>
            <a:endParaRPr lang="en-US" sz="3600" dirty="0"/>
          </a:p>
        </p:txBody>
      </p:sp>
      <p:pic>
        <p:nvPicPr>
          <p:cNvPr id="4" name="Figura 181" descr="Mockup de la pantalla de inicio de sesión con usuario, contraseña y botón Ingresar">    </p:cNvPr>
          <p:cNvPicPr>
            <a:picLocks noChangeAspect="1"/>
          </p:cNvPicPr>
          <p:nvPr/>
        </p:nvPicPr>
        <p:blipFill>
          <a:blip r:embed="rId1"/>
          <a:stretch>
            <a:fillRect/>
          </a:stretch>
        </p:blipFill>
        <p:spPr>
          <a:xfrm>
            <a:off x="548640" y="1893977"/>
            <a:ext cx="6858000" cy="4030167"/>
          </a:xfrm>
          <a:prstGeom prst="rect">
            <a:avLst/>
          </a:prstGeom>
        </p:spPr>
      </p:pic>
      <p:sp>
        <p:nvSpPr>
          <p:cNvPr id="5" name="Tarjeta 182"/>
          <p:cNvSpPr/>
          <p:nvPr/>
        </p:nvSpPr>
        <p:spPr>
          <a:xfrm>
            <a:off x="7772400" y="1691640"/>
            <a:ext cx="3840480" cy="960120"/>
          </a:xfrm>
          <a:prstGeom prst="roundRect">
            <a:avLst>
              <a:gd name="adj" fmla="val 9524"/>
            </a:avLst>
          </a:prstGeom>
          <a:solidFill>
            <a:schemeClr val="bg2"/>
          </a:solidFill>
          <a:ln/>
        </p:spPr>
      </p:sp>
      <p:sp>
        <p:nvSpPr>
          <p:cNvPr id="6" name="Texto 183"/>
          <p:cNvSpPr txBox="1"/>
          <p:nvPr/>
        </p:nvSpPr>
        <p:spPr>
          <a:xfrm>
            <a:off x="7955280" y="169164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Usuario: </a:t>
            </a:r>
            <a:pPr indent="0" marL="0">
              <a:buNone/>
            </a:pPr>
            <a:r>
              <a:rPr lang="en-US" sz="1500" dirty="0">
                <a:solidFill>
                  <a:schemeClr val="tx1"/>
                </a:solidFill>
              </a:rPr>
              <a:t>Personal de TI que necesita acceder rápido.</a:t>
            </a:r>
            <a:endParaRPr lang="en-US" sz="1500" dirty="0"/>
          </a:p>
        </p:txBody>
      </p:sp>
      <p:sp>
        <p:nvSpPr>
          <p:cNvPr id="7" name="Tarjeta 184"/>
          <p:cNvSpPr/>
          <p:nvPr/>
        </p:nvSpPr>
        <p:spPr>
          <a:xfrm>
            <a:off x="7772400" y="2788920"/>
            <a:ext cx="3840480" cy="960120"/>
          </a:xfrm>
          <a:prstGeom prst="roundRect">
            <a:avLst>
              <a:gd name="adj" fmla="val 9524"/>
            </a:avLst>
          </a:prstGeom>
          <a:solidFill>
            <a:schemeClr val="bg2"/>
          </a:solidFill>
          <a:ln/>
        </p:spPr>
      </p:sp>
      <p:sp>
        <p:nvSpPr>
          <p:cNvPr id="8" name="Texto 185"/>
          <p:cNvSpPr txBox="1"/>
          <p:nvPr/>
        </p:nvSpPr>
        <p:spPr>
          <a:xfrm>
            <a:off x="7955280" y="278892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Tarea: </a:t>
            </a:r>
            <a:pPr indent="0" marL="0">
              <a:buNone/>
            </a:pPr>
            <a:r>
              <a:rPr lang="en-US" sz="1500" dirty="0">
                <a:solidFill>
                  <a:schemeClr val="tx1"/>
                </a:solidFill>
              </a:rPr>
              <a:t>Ingresar usuario y contraseña.</a:t>
            </a:r>
            <a:endParaRPr lang="en-US" sz="1500" dirty="0"/>
          </a:p>
        </p:txBody>
      </p:sp>
      <p:sp>
        <p:nvSpPr>
          <p:cNvPr id="9" name="Tarjeta 186"/>
          <p:cNvSpPr/>
          <p:nvPr/>
        </p:nvSpPr>
        <p:spPr>
          <a:xfrm>
            <a:off x="7772400" y="3886200"/>
            <a:ext cx="3840480" cy="960120"/>
          </a:xfrm>
          <a:prstGeom prst="roundRect">
            <a:avLst>
              <a:gd name="adj" fmla="val 9524"/>
            </a:avLst>
          </a:prstGeom>
          <a:solidFill>
            <a:schemeClr val="bg2"/>
          </a:solidFill>
          <a:ln/>
        </p:spPr>
      </p:sp>
      <p:sp>
        <p:nvSpPr>
          <p:cNvPr id="10" name="Texto 187"/>
          <p:cNvSpPr txBox="1"/>
          <p:nvPr/>
        </p:nvSpPr>
        <p:spPr>
          <a:xfrm>
            <a:off x="7955280" y="388620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Expectativa: </a:t>
            </a:r>
            <a:pPr indent="0" marL="0">
              <a:buNone/>
            </a:pPr>
            <a:r>
              <a:rPr lang="en-US" sz="1500" dirty="0">
                <a:solidFill>
                  <a:schemeClr val="tx1"/>
                </a:solidFill>
              </a:rPr>
              <a:t>Entrar al panel o ver un error claro si algo falló.</a:t>
            </a:r>
            <a:endParaRPr lang="en-US" sz="1500" dirty="0"/>
          </a:p>
        </p:txBody>
      </p:sp>
      <p:sp>
        <p:nvSpPr>
          <p:cNvPr id="11" name="Tarjeta 188"/>
          <p:cNvSpPr/>
          <p:nvPr/>
        </p:nvSpPr>
        <p:spPr>
          <a:xfrm>
            <a:off x="7772400" y="4983480"/>
            <a:ext cx="3840480" cy="960120"/>
          </a:xfrm>
          <a:prstGeom prst="roundRect">
            <a:avLst>
              <a:gd name="adj" fmla="val 9524"/>
            </a:avLst>
          </a:prstGeom>
          <a:solidFill>
            <a:schemeClr val="bg2"/>
          </a:solidFill>
          <a:ln/>
        </p:spPr>
      </p:sp>
      <p:sp>
        <p:nvSpPr>
          <p:cNvPr id="12" name="Texto 189"/>
          <p:cNvSpPr txBox="1"/>
          <p:nvPr/>
        </p:nvSpPr>
        <p:spPr>
          <a:xfrm>
            <a:off x="7955280" y="498348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Feedback: </a:t>
            </a:r>
            <a:pPr indent="0" marL="0">
              <a:buNone/>
            </a:pPr>
            <a:r>
              <a:rPr lang="en-US" sz="1500" dirty="0">
                <a:solidFill>
                  <a:schemeClr val="tx1"/>
                </a:solidFill>
              </a:rPr>
              <a:t>Botón con estado y mensaje de error junto al campo.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4 · FLUJOS Y MOCKUPS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Mockup: dashboard de monitoreo</a:t>
            </a:r>
            <a:endParaRPr lang="en-US" sz="3600" dirty="0"/>
          </a:p>
        </p:txBody>
      </p:sp>
      <p:pic>
        <p:nvPicPr>
          <p:cNvPr id="4" name="Figura 190" descr="Mockup del dashboard con tarjetas de CPU, RAM, disco y batería, banner de estado e historial">    </p:cNvPr>
          <p:cNvPicPr>
            <a:picLocks noChangeAspect="1"/>
          </p:cNvPicPr>
          <p:nvPr/>
        </p:nvPicPr>
        <p:blipFill>
          <a:blip r:embed="rId1"/>
          <a:stretch>
            <a:fillRect/>
          </a:stretch>
        </p:blipFill>
        <p:spPr>
          <a:xfrm>
            <a:off x="548640" y="2411722"/>
            <a:ext cx="7040880" cy="2994676"/>
          </a:xfrm>
          <a:prstGeom prst="rect">
            <a:avLst/>
          </a:prstGeom>
        </p:spPr>
      </p:pic>
      <p:sp>
        <p:nvSpPr>
          <p:cNvPr id="5" name="Tarjeta 191"/>
          <p:cNvSpPr/>
          <p:nvPr/>
        </p:nvSpPr>
        <p:spPr>
          <a:xfrm>
            <a:off x="7772400" y="1691640"/>
            <a:ext cx="3840480" cy="960120"/>
          </a:xfrm>
          <a:prstGeom prst="roundRect">
            <a:avLst>
              <a:gd name="adj" fmla="val 9524"/>
            </a:avLst>
          </a:prstGeom>
          <a:solidFill>
            <a:schemeClr val="bg2"/>
          </a:solidFill>
          <a:ln/>
        </p:spPr>
      </p:sp>
      <p:sp>
        <p:nvSpPr>
          <p:cNvPr id="6" name="Texto 192"/>
          <p:cNvSpPr txBox="1"/>
          <p:nvPr/>
        </p:nvSpPr>
        <p:spPr>
          <a:xfrm>
            <a:off x="7955280" y="169164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Usuario: </a:t>
            </a:r>
            <a:pPr indent="0" marL="0">
              <a:buNone/>
            </a:pPr>
            <a:r>
              <a:rPr lang="en-US" sz="1500" dirty="0">
                <a:solidFill>
                  <a:schemeClr val="tx1"/>
                </a:solidFill>
              </a:rPr>
              <a:t>Personal de TI ya autenticado.</a:t>
            </a:r>
            <a:endParaRPr lang="en-US" sz="1500" dirty="0"/>
          </a:p>
        </p:txBody>
      </p:sp>
      <p:sp>
        <p:nvSpPr>
          <p:cNvPr id="7" name="Tarjeta 193"/>
          <p:cNvSpPr/>
          <p:nvPr/>
        </p:nvSpPr>
        <p:spPr>
          <a:xfrm>
            <a:off x="7772400" y="2788920"/>
            <a:ext cx="3840480" cy="960120"/>
          </a:xfrm>
          <a:prstGeom prst="roundRect">
            <a:avLst>
              <a:gd name="adj" fmla="val 9524"/>
            </a:avLst>
          </a:prstGeom>
          <a:solidFill>
            <a:schemeClr val="bg2"/>
          </a:solidFill>
          <a:ln/>
        </p:spPr>
      </p:sp>
      <p:sp>
        <p:nvSpPr>
          <p:cNvPr id="8" name="Texto 194"/>
          <p:cNvSpPr txBox="1"/>
          <p:nvPr/>
        </p:nvSpPr>
        <p:spPr>
          <a:xfrm>
            <a:off x="7955280" y="278892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Tarea: </a:t>
            </a:r>
            <a:pPr indent="0" marL="0">
              <a:buNone/>
            </a:pPr>
            <a:r>
              <a:rPr lang="en-US" sz="1500" dirty="0">
                <a:solidFill>
                  <a:schemeClr val="tx1"/>
                </a:solidFill>
              </a:rPr>
              <a:t>Revisar CPU, RAM, disco y batería y detectar alertas.</a:t>
            </a:r>
            <a:endParaRPr lang="en-US" sz="1500" dirty="0"/>
          </a:p>
        </p:txBody>
      </p:sp>
      <p:sp>
        <p:nvSpPr>
          <p:cNvPr id="9" name="Tarjeta 195"/>
          <p:cNvSpPr/>
          <p:nvPr/>
        </p:nvSpPr>
        <p:spPr>
          <a:xfrm>
            <a:off x="7772400" y="3886200"/>
            <a:ext cx="3840480" cy="960120"/>
          </a:xfrm>
          <a:prstGeom prst="roundRect">
            <a:avLst>
              <a:gd name="adj" fmla="val 9524"/>
            </a:avLst>
          </a:prstGeom>
          <a:solidFill>
            <a:schemeClr val="bg2"/>
          </a:solidFill>
          <a:ln/>
        </p:spPr>
      </p:sp>
      <p:sp>
        <p:nvSpPr>
          <p:cNvPr id="10" name="Texto 196"/>
          <p:cNvSpPr txBox="1"/>
          <p:nvPr/>
        </p:nvSpPr>
        <p:spPr>
          <a:xfrm>
            <a:off x="7955280" y="388620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Expectativa: </a:t>
            </a:r>
            <a:pPr indent="0" marL="0">
              <a:buNone/>
            </a:pPr>
            <a:r>
              <a:rPr lang="en-US" sz="1500" dirty="0">
                <a:solidFill>
                  <a:schemeClr val="tx1"/>
                </a:solidFill>
              </a:rPr>
              <a:t>Datos actualizados y alertas que se noten de inmediato.</a:t>
            </a:r>
            <a:endParaRPr lang="en-US" sz="1500" dirty="0"/>
          </a:p>
        </p:txBody>
      </p:sp>
      <p:sp>
        <p:nvSpPr>
          <p:cNvPr id="11" name="Tarjeta 197"/>
          <p:cNvSpPr/>
          <p:nvPr/>
        </p:nvSpPr>
        <p:spPr>
          <a:xfrm>
            <a:off x="7772400" y="4983480"/>
            <a:ext cx="3840480" cy="960120"/>
          </a:xfrm>
          <a:prstGeom prst="roundRect">
            <a:avLst>
              <a:gd name="adj" fmla="val 9524"/>
            </a:avLst>
          </a:prstGeom>
          <a:solidFill>
            <a:schemeClr val="bg2"/>
          </a:solidFill>
          <a:ln/>
        </p:spPr>
      </p:sp>
      <p:sp>
        <p:nvSpPr>
          <p:cNvPr id="12" name="Texto 198"/>
          <p:cNvSpPr txBox="1"/>
          <p:nvPr/>
        </p:nvSpPr>
        <p:spPr>
          <a:xfrm>
            <a:off x="7955280" y="498348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Feedback: </a:t>
            </a:r>
            <a:pPr indent="0" marL="0">
              <a:buNone/>
            </a:pPr>
            <a:r>
              <a:rPr lang="en-US" sz="1500" dirty="0">
                <a:solidFill>
                  <a:schemeClr val="tx1"/>
                </a:solidFill>
              </a:rPr>
              <a:t>Barras de color y banner de estado (verde normal, ámbar alerta).</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4 · FLUJOS Y MOCKUPS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Mockup: gestión de servidores</a:t>
            </a:r>
            <a:endParaRPr lang="en-US" sz="3600" dirty="0"/>
          </a:p>
        </p:txBody>
      </p:sp>
      <p:pic>
        <p:nvPicPr>
          <p:cNvPr id="4" name="Figura 199" descr="Mockup de la gestión de servidores con tabla de estado y botón Agregar servidor">    </p:cNvPr>
          <p:cNvPicPr>
            <a:picLocks noChangeAspect="1"/>
          </p:cNvPicPr>
          <p:nvPr/>
        </p:nvPicPr>
        <p:blipFill>
          <a:blip r:embed="rId1"/>
          <a:stretch>
            <a:fillRect/>
          </a:stretch>
        </p:blipFill>
        <p:spPr>
          <a:xfrm>
            <a:off x="548640" y="2041398"/>
            <a:ext cx="6949440" cy="3735324"/>
          </a:xfrm>
          <a:prstGeom prst="rect">
            <a:avLst/>
          </a:prstGeom>
        </p:spPr>
      </p:pic>
      <p:sp>
        <p:nvSpPr>
          <p:cNvPr id="5" name="Tarjeta 200"/>
          <p:cNvSpPr/>
          <p:nvPr/>
        </p:nvSpPr>
        <p:spPr>
          <a:xfrm>
            <a:off x="7772400" y="1691640"/>
            <a:ext cx="3840480" cy="960120"/>
          </a:xfrm>
          <a:prstGeom prst="roundRect">
            <a:avLst>
              <a:gd name="adj" fmla="val 9524"/>
            </a:avLst>
          </a:prstGeom>
          <a:solidFill>
            <a:schemeClr val="bg2"/>
          </a:solidFill>
          <a:ln/>
        </p:spPr>
      </p:sp>
      <p:sp>
        <p:nvSpPr>
          <p:cNvPr id="6" name="Texto 201"/>
          <p:cNvSpPr txBox="1"/>
          <p:nvPr/>
        </p:nvSpPr>
        <p:spPr>
          <a:xfrm>
            <a:off x="7955280" y="169164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Usuario: </a:t>
            </a:r>
            <a:pPr indent="0" marL="0">
              <a:buNone/>
            </a:pPr>
            <a:r>
              <a:rPr lang="en-US" sz="1500" dirty="0">
                <a:solidFill>
                  <a:schemeClr val="tx1"/>
                </a:solidFill>
              </a:rPr>
              <a:t>Administrador de TI.</a:t>
            </a:r>
            <a:endParaRPr lang="en-US" sz="1500" dirty="0"/>
          </a:p>
        </p:txBody>
      </p:sp>
      <p:sp>
        <p:nvSpPr>
          <p:cNvPr id="7" name="Tarjeta 202"/>
          <p:cNvSpPr/>
          <p:nvPr/>
        </p:nvSpPr>
        <p:spPr>
          <a:xfrm>
            <a:off x="7772400" y="2788920"/>
            <a:ext cx="3840480" cy="960120"/>
          </a:xfrm>
          <a:prstGeom prst="roundRect">
            <a:avLst>
              <a:gd name="adj" fmla="val 9524"/>
            </a:avLst>
          </a:prstGeom>
          <a:solidFill>
            <a:schemeClr val="bg2"/>
          </a:solidFill>
          <a:ln/>
        </p:spPr>
      </p:sp>
      <p:sp>
        <p:nvSpPr>
          <p:cNvPr id="8" name="Texto 203"/>
          <p:cNvSpPr txBox="1"/>
          <p:nvPr/>
        </p:nvSpPr>
        <p:spPr>
          <a:xfrm>
            <a:off x="7955280" y="278892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Tarea: </a:t>
            </a:r>
            <a:pPr indent="0" marL="0">
              <a:buNone/>
            </a:pPr>
            <a:r>
              <a:rPr lang="en-US" sz="1500" dirty="0">
                <a:solidFill>
                  <a:schemeClr val="tx1"/>
                </a:solidFill>
              </a:rPr>
              <a:t>Agregar servidores y revisar su estado.</a:t>
            </a:r>
            <a:endParaRPr lang="en-US" sz="1500" dirty="0"/>
          </a:p>
        </p:txBody>
      </p:sp>
      <p:sp>
        <p:nvSpPr>
          <p:cNvPr id="9" name="Tarjeta 204"/>
          <p:cNvSpPr/>
          <p:nvPr/>
        </p:nvSpPr>
        <p:spPr>
          <a:xfrm>
            <a:off x="7772400" y="3886200"/>
            <a:ext cx="3840480" cy="960120"/>
          </a:xfrm>
          <a:prstGeom prst="roundRect">
            <a:avLst>
              <a:gd name="adj" fmla="val 9524"/>
            </a:avLst>
          </a:prstGeom>
          <a:solidFill>
            <a:schemeClr val="bg2"/>
          </a:solidFill>
          <a:ln/>
        </p:spPr>
      </p:sp>
      <p:sp>
        <p:nvSpPr>
          <p:cNvPr id="10" name="Texto 205"/>
          <p:cNvSpPr txBox="1"/>
          <p:nvPr/>
        </p:nvSpPr>
        <p:spPr>
          <a:xfrm>
            <a:off x="7955280" y="388620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Expectativa: </a:t>
            </a:r>
            <a:pPr indent="0" marL="0">
              <a:buNone/>
            </a:pPr>
            <a:r>
              <a:rPr lang="en-US" sz="1500" dirty="0">
                <a:solidFill>
                  <a:schemeClr val="tx1"/>
                </a:solidFill>
              </a:rPr>
              <a:t>Ver qué servidor está normal, en alerta o sin conexión.</a:t>
            </a:r>
            <a:endParaRPr lang="en-US" sz="1500" dirty="0"/>
          </a:p>
        </p:txBody>
      </p:sp>
      <p:sp>
        <p:nvSpPr>
          <p:cNvPr id="11" name="Tarjeta 206"/>
          <p:cNvSpPr/>
          <p:nvPr/>
        </p:nvSpPr>
        <p:spPr>
          <a:xfrm>
            <a:off x="7772400" y="4983480"/>
            <a:ext cx="3840480" cy="960120"/>
          </a:xfrm>
          <a:prstGeom prst="roundRect">
            <a:avLst>
              <a:gd name="adj" fmla="val 9524"/>
            </a:avLst>
          </a:prstGeom>
          <a:solidFill>
            <a:schemeClr val="bg2"/>
          </a:solidFill>
          <a:ln/>
        </p:spPr>
      </p:sp>
      <p:sp>
        <p:nvSpPr>
          <p:cNvPr id="12" name="Texto 207"/>
          <p:cNvSpPr txBox="1"/>
          <p:nvPr/>
        </p:nvSpPr>
        <p:spPr>
          <a:xfrm>
            <a:off x="7955280" y="4983480"/>
            <a:ext cx="3474720" cy="960120"/>
          </a:xfrm>
          <a:prstGeom prst="rect">
            <a:avLst/>
          </a:prstGeom>
          <a:noFill/>
          <a:ln/>
        </p:spPr>
        <p:txBody>
          <a:bodyPr wrap="square" lIns="0" tIns="0" rIns="0" bIns="0" rtlCol="0" anchor="ctr"/>
          <a:lstStyle/>
          <a:p>
            <a:pPr indent="0" marL="0">
              <a:buNone/>
            </a:pPr>
            <a:r>
              <a:rPr lang="en-US" sz="1500" b="1" dirty="0">
                <a:solidFill>
                  <a:schemeClr val="tx2"/>
                </a:solidFill>
              </a:rPr>
              <a:t>Feedback: </a:t>
            </a:r>
            <a:pPr indent="0" marL="0">
              <a:buNone/>
            </a:pPr>
            <a:r>
              <a:rPr lang="en-US" sz="1500" dirty="0">
                <a:solidFill>
                  <a:schemeClr val="tx1"/>
                </a:solidFill>
              </a:rPr>
              <a:t>Etiqueta de estado con color y texto, hora del último reporte y aviso de seguridad.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5 · ARQUITECTURA DEL PROYECTO</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Arquitectura MVC con Django</a:t>
            </a:r>
            <a:endParaRPr lang="en-US" sz="3600" dirty="0"/>
          </a:p>
        </p:txBody>
      </p:sp>
      <p:sp>
        <p:nvSpPr>
          <p:cNvPr id="4" name="Texto 208"/>
          <p:cNvSpPr txBox="1"/>
          <p:nvPr/>
        </p:nvSpPr>
        <p:spPr>
          <a:xfrm>
            <a:off x="548640" y="1691640"/>
            <a:ext cx="4480560" cy="502920"/>
          </a:xfrm>
          <a:prstGeom prst="rect">
            <a:avLst/>
          </a:prstGeom>
          <a:noFill/>
          <a:ln/>
        </p:spPr>
        <p:txBody>
          <a:bodyPr wrap="square" lIns="0" tIns="0" rIns="0" bIns="0" rtlCol="0" anchor="t"/>
          <a:lstStyle/>
          <a:p>
            <a:pPr indent="0" marL="0">
              <a:buNone/>
            </a:pPr>
            <a:r>
              <a:rPr lang="en-US" sz="1400" dirty="0">
                <a:solidFill>
                  <a:schemeClr val="accent6"/>
                </a:solidFill>
              </a:rPr>
              <a:t>Django lo llama MTV (Model, Template, View); equivale a MVC.</a:t>
            </a:r>
            <a:endParaRPr lang="en-US" sz="1400" dirty="0"/>
          </a:p>
        </p:txBody>
      </p:sp>
      <p:sp>
        <p:nvSpPr>
          <p:cNvPr id="5" name="Tarjeta 209"/>
          <p:cNvSpPr/>
          <p:nvPr/>
        </p:nvSpPr>
        <p:spPr>
          <a:xfrm>
            <a:off x="548640" y="2286000"/>
            <a:ext cx="4480560" cy="1143000"/>
          </a:xfrm>
          <a:prstGeom prst="roundRect">
            <a:avLst>
              <a:gd name="adj" fmla="val 8000"/>
            </a:avLst>
          </a:prstGeom>
          <a:solidFill>
            <a:schemeClr val="bg2"/>
          </a:solidFill>
          <a:ln/>
        </p:spPr>
      </p:sp>
      <p:sp>
        <p:nvSpPr>
          <p:cNvPr id="6" name="Insignia 210"/>
          <p:cNvSpPr/>
          <p:nvPr/>
        </p:nvSpPr>
        <p:spPr>
          <a:xfrm>
            <a:off x="731520" y="2560320"/>
            <a:ext cx="594360" cy="594360"/>
          </a:xfrm>
          <a:prstGeom prst="ellipse">
            <a:avLst/>
          </a:prstGeom>
          <a:solidFill>
            <a:schemeClr val="accent4"/>
          </a:solidFill>
          <a:ln/>
        </p:spPr>
      </p:sp>
      <p:sp>
        <p:nvSpPr>
          <p:cNvPr id="7" name="Insignia texto 211"/>
          <p:cNvSpPr txBox="1"/>
          <p:nvPr/>
        </p:nvSpPr>
        <p:spPr>
          <a:xfrm>
            <a:off x="731520" y="25603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M</a:t>
            </a:r>
            <a:endParaRPr lang="en-US" sz="2000" dirty="0"/>
          </a:p>
        </p:txBody>
      </p:sp>
      <p:sp>
        <p:nvSpPr>
          <p:cNvPr id="8" name="Texto 212"/>
          <p:cNvSpPr txBox="1"/>
          <p:nvPr/>
        </p:nvSpPr>
        <p:spPr>
          <a:xfrm>
            <a:off x="1508760" y="2395728"/>
            <a:ext cx="3383280" cy="292608"/>
          </a:xfrm>
          <a:prstGeom prst="rect">
            <a:avLst/>
          </a:prstGeom>
          <a:noFill/>
          <a:ln/>
        </p:spPr>
        <p:txBody>
          <a:bodyPr wrap="square" lIns="0" tIns="0" rIns="0" bIns="0" rtlCol="0" anchor="t"/>
          <a:lstStyle/>
          <a:p>
            <a:pPr indent="0" marL="0">
              <a:buNone/>
            </a:pPr>
            <a:r>
              <a:rPr lang="en-US" sz="1600" b="1" dirty="0">
                <a:solidFill>
                  <a:schemeClr val="tx2"/>
                </a:solidFill>
              </a:rPr>
              <a:t>Modelo · models.py (ORM)</a:t>
            </a:r>
            <a:endParaRPr lang="en-US" sz="1600" dirty="0"/>
          </a:p>
        </p:txBody>
      </p:sp>
      <p:sp>
        <p:nvSpPr>
          <p:cNvPr id="9" name="Texto 213"/>
          <p:cNvSpPr txBox="1"/>
          <p:nvPr/>
        </p:nvSpPr>
        <p:spPr>
          <a:xfrm>
            <a:off x="1508760" y="2743200"/>
            <a:ext cx="3383280" cy="640080"/>
          </a:xfrm>
          <a:prstGeom prst="rect">
            <a:avLst/>
          </a:prstGeom>
          <a:noFill/>
          <a:ln/>
        </p:spPr>
        <p:txBody>
          <a:bodyPr wrap="square" lIns="0" tIns="0" rIns="0" bIns="0" rtlCol="0" anchor="t"/>
          <a:lstStyle/>
          <a:p>
            <a:pPr indent="0" marL="0">
              <a:buNone/>
            </a:pPr>
            <a:r>
              <a:rPr lang="en-US" sz="1500" dirty="0">
                <a:solidFill>
                  <a:schemeClr val="tx1"/>
                </a:solidFill>
              </a:rPr>
              <a:t>Define Usuario, Servidor y Reporte y accede a la base de datos.</a:t>
            </a:r>
            <a:endParaRPr lang="en-US" sz="1500" dirty="0"/>
          </a:p>
        </p:txBody>
      </p:sp>
      <p:sp>
        <p:nvSpPr>
          <p:cNvPr id="10" name="Tarjeta 214"/>
          <p:cNvSpPr/>
          <p:nvPr/>
        </p:nvSpPr>
        <p:spPr>
          <a:xfrm>
            <a:off x="548640" y="3566160"/>
            <a:ext cx="4480560" cy="1143000"/>
          </a:xfrm>
          <a:prstGeom prst="roundRect">
            <a:avLst>
              <a:gd name="adj" fmla="val 8000"/>
            </a:avLst>
          </a:prstGeom>
          <a:solidFill>
            <a:schemeClr val="bg2"/>
          </a:solidFill>
          <a:ln/>
        </p:spPr>
      </p:sp>
      <p:sp>
        <p:nvSpPr>
          <p:cNvPr id="11" name="Insignia 215"/>
          <p:cNvSpPr/>
          <p:nvPr/>
        </p:nvSpPr>
        <p:spPr>
          <a:xfrm>
            <a:off x="731520" y="3840480"/>
            <a:ext cx="594360" cy="594360"/>
          </a:xfrm>
          <a:prstGeom prst="ellipse">
            <a:avLst/>
          </a:prstGeom>
          <a:solidFill>
            <a:schemeClr val="accent2"/>
          </a:solidFill>
          <a:ln/>
        </p:spPr>
      </p:sp>
      <p:sp>
        <p:nvSpPr>
          <p:cNvPr id="12" name="Insignia texto 216"/>
          <p:cNvSpPr txBox="1"/>
          <p:nvPr/>
        </p:nvSpPr>
        <p:spPr>
          <a:xfrm>
            <a:off x="731520" y="3840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V</a:t>
            </a:r>
            <a:endParaRPr lang="en-US" sz="2000" dirty="0"/>
          </a:p>
        </p:txBody>
      </p:sp>
      <p:sp>
        <p:nvSpPr>
          <p:cNvPr id="13" name="Texto 217"/>
          <p:cNvSpPr txBox="1"/>
          <p:nvPr/>
        </p:nvSpPr>
        <p:spPr>
          <a:xfrm>
            <a:off x="1508760" y="3675888"/>
            <a:ext cx="3383280" cy="292608"/>
          </a:xfrm>
          <a:prstGeom prst="rect">
            <a:avLst/>
          </a:prstGeom>
          <a:noFill/>
          <a:ln/>
        </p:spPr>
        <p:txBody>
          <a:bodyPr wrap="square" lIns="0" tIns="0" rIns="0" bIns="0" rtlCol="0" anchor="t"/>
          <a:lstStyle/>
          <a:p>
            <a:pPr indent="0" marL="0">
              <a:buNone/>
            </a:pPr>
            <a:r>
              <a:rPr lang="en-US" sz="1600" b="1" dirty="0">
                <a:solidFill>
                  <a:schemeClr val="tx2"/>
                </a:solidFill>
              </a:rPr>
              <a:t>Vista · Templates HTML</a:t>
            </a:r>
            <a:endParaRPr lang="en-US" sz="1600" dirty="0"/>
          </a:p>
        </p:txBody>
      </p:sp>
      <p:sp>
        <p:nvSpPr>
          <p:cNvPr id="14" name="Texto 218"/>
          <p:cNvSpPr txBox="1"/>
          <p:nvPr/>
        </p:nvSpPr>
        <p:spPr>
          <a:xfrm>
            <a:off x="1508760" y="4023360"/>
            <a:ext cx="3383280" cy="640080"/>
          </a:xfrm>
          <a:prstGeom prst="rect">
            <a:avLst/>
          </a:prstGeom>
          <a:noFill/>
          <a:ln/>
        </p:spPr>
        <p:txBody>
          <a:bodyPr wrap="square" lIns="0" tIns="0" rIns="0" bIns="0" rtlCol="0" anchor="t"/>
          <a:lstStyle/>
          <a:p>
            <a:pPr indent="0" marL="0">
              <a:buNone/>
            </a:pPr>
            <a:r>
              <a:rPr lang="en-US" sz="1500" dirty="0">
                <a:solidFill>
                  <a:schemeClr val="tx1"/>
                </a:solidFill>
              </a:rPr>
              <a:t>Pantallas de login, dashboard, servidores e historial.</a:t>
            </a:r>
            <a:endParaRPr lang="en-US" sz="1500" dirty="0"/>
          </a:p>
        </p:txBody>
      </p:sp>
      <p:sp>
        <p:nvSpPr>
          <p:cNvPr id="15" name="Tarjeta 219"/>
          <p:cNvSpPr/>
          <p:nvPr/>
        </p:nvSpPr>
        <p:spPr>
          <a:xfrm>
            <a:off x="548640" y="4846320"/>
            <a:ext cx="4480560" cy="1143000"/>
          </a:xfrm>
          <a:prstGeom prst="roundRect">
            <a:avLst>
              <a:gd name="adj" fmla="val 8000"/>
            </a:avLst>
          </a:prstGeom>
          <a:solidFill>
            <a:schemeClr val="bg2"/>
          </a:solidFill>
          <a:ln/>
        </p:spPr>
      </p:sp>
      <p:sp>
        <p:nvSpPr>
          <p:cNvPr id="16" name="Insignia 220"/>
          <p:cNvSpPr/>
          <p:nvPr/>
        </p:nvSpPr>
        <p:spPr>
          <a:xfrm>
            <a:off x="731520" y="5120640"/>
            <a:ext cx="594360" cy="594360"/>
          </a:xfrm>
          <a:prstGeom prst="ellipse">
            <a:avLst/>
          </a:prstGeom>
          <a:solidFill>
            <a:schemeClr val="accent3"/>
          </a:solidFill>
          <a:ln/>
        </p:spPr>
      </p:sp>
      <p:sp>
        <p:nvSpPr>
          <p:cNvPr id="17" name="Insignia texto 221"/>
          <p:cNvSpPr txBox="1"/>
          <p:nvPr/>
        </p:nvSpPr>
        <p:spPr>
          <a:xfrm>
            <a:off x="731520" y="51206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o 222"/>
          <p:cNvSpPr txBox="1"/>
          <p:nvPr/>
        </p:nvSpPr>
        <p:spPr>
          <a:xfrm>
            <a:off x="1508760" y="4956048"/>
            <a:ext cx="3383280" cy="292608"/>
          </a:xfrm>
          <a:prstGeom prst="rect">
            <a:avLst/>
          </a:prstGeom>
          <a:noFill/>
          <a:ln/>
        </p:spPr>
        <p:txBody>
          <a:bodyPr wrap="square" lIns="0" tIns="0" rIns="0" bIns="0" rtlCol="0" anchor="t"/>
          <a:lstStyle/>
          <a:p>
            <a:pPr indent="0" marL="0">
              <a:buNone/>
            </a:pPr>
            <a:r>
              <a:rPr lang="en-US" sz="1600" b="1" dirty="0">
                <a:solidFill>
                  <a:schemeClr val="tx2"/>
                </a:solidFill>
              </a:rPr>
              <a:t>Controlador · views.py</a:t>
            </a:r>
            <a:endParaRPr lang="en-US" sz="1600" dirty="0"/>
          </a:p>
        </p:txBody>
      </p:sp>
      <p:sp>
        <p:nvSpPr>
          <p:cNvPr id="19" name="Texto 223"/>
          <p:cNvSpPr txBox="1"/>
          <p:nvPr/>
        </p:nvSpPr>
        <p:spPr>
          <a:xfrm>
            <a:off x="1508760" y="5303520"/>
            <a:ext cx="3383280" cy="640080"/>
          </a:xfrm>
          <a:prstGeom prst="rect">
            <a:avLst/>
          </a:prstGeom>
          <a:noFill/>
          <a:ln/>
        </p:spPr>
        <p:txBody>
          <a:bodyPr wrap="square" lIns="0" tIns="0" rIns="0" bIns="0" rtlCol="0" anchor="t"/>
          <a:lstStyle/>
          <a:p>
            <a:pPr indent="0" marL="0">
              <a:buNone/>
            </a:pPr>
            <a:r>
              <a:rPr lang="en-US" sz="1500" dirty="0">
                <a:solidFill>
                  <a:schemeClr val="tx1"/>
                </a:solidFill>
              </a:rPr>
              <a:t>Recibe peticiones, evalúa alertas y consulta el modelo.</a:t>
            </a:r>
            <a:endParaRPr lang="en-US" sz="1500" dirty="0"/>
          </a:p>
        </p:txBody>
      </p:sp>
      <p:pic>
        <p:nvPicPr>
          <p:cNvPr id="20" name="Figura 224" descr="Diagrama de arquitectura: navegador, vista, controlador, modelo y base de datos, con agente de telemetría y WebSockets">    </p:cNvPr>
          <p:cNvPicPr>
            <a:picLocks noChangeAspect="1"/>
          </p:cNvPicPr>
          <p:nvPr/>
        </p:nvPicPr>
        <p:blipFill>
          <a:blip r:embed="rId1"/>
          <a:stretch>
            <a:fillRect/>
          </a:stretch>
        </p:blipFill>
        <p:spPr>
          <a:xfrm>
            <a:off x="5257800" y="1691640"/>
            <a:ext cx="6384175" cy="438912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5 · ARQUITECTURA DEL PROYECTO</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Stack y decisiones técnicas</a:t>
            </a:r>
            <a:endParaRPr lang="en-US" sz="3600" dirty="0"/>
          </a:p>
        </p:txBody>
      </p:sp>
      <p:graphicFrame>
        <p:nvGraphicFramePr>
          <p:cNvPr id="15" name="Tabla stack"/>
          <p:cNvGraphicFramePr>
            <a:graphicFrameLocks noGrp="1"/>
          </p:cNvGraphicFramePr>
          <p:nvPr>
            <p:extLst>
              <p:ext uri="{D42A27DB-BD31-4B8C-83A1-F6EECF244321}">
                <p14:modId xmlns:p14="http://schemas.microsoft.com/office/powerpoint/2010/main" val="1579011935"/>
              </p:ext>
            </p:extLst>
          </p:nvPr>
        </p:nvGraphicFramePr>
        <p:xfrm>
          <a:off x="548640" y="1691640"/>
          <a:ext cx="6309360" cy="914400"/>
        </p:xfrm>
        <a:graphic>
          <a:graphicData uri="http://schemas.openxmlformats.org/drawingml/2006/table">
            <a:tbl>
              <a:tblPr/>
              <a:tblGrid>
                <a:gridCol w="2103120"/>
                <a:gridCol w="4206240"/>
              </a:tblGrid>
              <a:tr h="475488">
                <a:tc>
                  <a:txBody>
                    <a:bodyPr/>
                    <a:lstStyle/>
                    <a:p>
                      <a:pPr indent="0" marL="0">
                        <a:buNone/>
                      </a:pPr>
                      <a:r>
                        <a:rPr lang="en-US" sz="1600" b="1" dirty="0">
                          <a:solidFill>
                            <a:schemeClr val="bg1"/>
                          </a:solidFill>
                        </a:rPr>
                        <a:t>Componente</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Tecnología</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r>
              <a:tr h="475488">
                <a:tc>
                  <a:txBody>
                    <a:bodyPr/>
                    <a:lstStyle/>
                    <a:p>
                      <a:pPr indent="0" marL="0">
                        <a:buNone/>
                      </a:pPr>
                      <a:r>
                        <a:rPr lang="en-US" sz="1600" b="1" dirty="0">
                          <a:solidFill>
                            <a:schemeClr val="tx1"/>
                          </a:solidFill>
                        </a:rPr>
                        <a:t>Lenguaje</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Python 3</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75488">
                <a:tc>
                  <a:txBody>
                    <a:bodyPr/>
                    <a:lstStyle/>
                    <a:p>
                      <a:pPr indent="0" marL="0">
                        <a:buNone/>
                      </a:pPr>
                      <a:r>
                        <a:rPr lang="en-US" sz="1600" b="1" dirty="0">
                          <a:solidFill>
                            <a:schemeClr val="tx1"/>
                          </a:solidFill>
                        </a:rPr>
                        <a:t>Framework</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Django (MVC/MTV, autenticación, ORM)</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75488">
                <a:tc>
                  <a:txBody>
                    <a:bodyPr/>
                    <a:lstStyle/>
                    <a:p>
                      <a:pPr indent="0" marL="0">
                        <a:buNone/>
                      </a:pPr>
                      <a:r>
                        <a:rPr lang="en-US" sz="1600" b="1" dirty="0">
                          <a:solidFill>
                            <a:schemeClr val="tx1"/>
                          </a:solidFill>
                        </a:rPr>
                        <a:t>Métricas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psutil</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75488">
                <a:tc>
                  <a:txBody>
                    <a:bodyPr/>
                    <a:lstStyle/>
                    <a:p>
                      <a:pPr indent="0" marL="0">
                        <a:buNone/>
                      </a:pPr>
                      <a:r>
                        <a:rPr lang="en-US" sz="1600" b="1" dirty="0">
                          <a:solidFill>
                            <a:schemeClr val="tx1"/>
                          </a:solidFill>
                        </a:rPr>
                        <a:t>Base de datos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PostgreSQL en Neon (SQLite local de respaldo)</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75488">
                <a:tc>
                  <a:txBody>
                    <a:bodyPr/>
                    <a:lstStyle/>
                    <a:p>
                      <a:pPr indent="0" marL="0">
                        <a:buNone/>
                      </a:pPr>
                      <a:r>
                        <a:rPr lang="en-US" sz="1600" b="1" dirty="0">
                          <a:solidFill>
                            <a:schemeClr val="tx1"/>
                          </a:solidFill>
                        </a:rPr>
                        <a:t>Presentación</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HTML, CSS y Bootstrap</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75488">
                <a:tc>
                  <a:txBody>
                    <a:bodyPr/>
                    <a:lstStyle/>
                    <a:p>
                      <a:pPr indent="0" marL="0">
                        <a:buNone/>
                      </a:pPr>
                      <a:r>
                        <a:rPr lang="en-US" sz="1600" b="1" dirty="0">
                          <a:solidFill>
                            <a:schemeClr val="tx1"/>
                          </a:solidFill>
                        </a:rPr>
                        <a:t>Tiempo real</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Django Channels (Sprint 3)</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475488">
                <a:tc>
                  <a:txBody>
                    <a:bodyPr/>
                    <a:lstStyle/>
                    <a:p>
                      <a:pPr indent="0" marL="0">
                        <a:buNone/>
                      </a:pPr>
                      <a:r>
                        <a:rPr lang="en-US" sz="1600" b="1" dirty="0">
                          <a:solidFill>
                            <a:schemeClr val="tx1"/>
                          </a:solidFill>
                        </a:rPr>
                        <a:t>Control de versiones</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Git y GitHub</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475488">
                <a:tc>
                  <a:txBody>
                    <a:bodyPr/>
                    <a:lstStyle/>
                    <a:p>
                      <a:pPr indent="0" marL="0">
                        <a:buNone/>
                      </a:pPr>
                      <a:r>
                        <a:rPr lang="en-US" sz="1600" b="1" dirty="0">
                          <a:solidFill>
                            <a:schemeClr val="tx1"/>
                          </a:solidFill>
                        </a:rPr>
                        <a:t>Editor</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Visual Studio Code</a:t>
                      </a:r>
                      <a:endParaRPr lang="en-US" sz="1600" dirty="0"/>
                    </a:p>
                  </a:txBody>
                  <a:tcPr marL="109728" marR="109728"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5" name="Tarjeta 225"/>
          <p:cNvSpPr/>
          <p:nvPr/>
        </p:nvSpPr>
        <p:spPr>
          <a:xfrm>
            <a:off x="7132320" y="1691640"/>
            <a:ext cx="4480560" cy="2148840"/>
          </a:xfrm>
          <a:prstGeom prst="roundRect">
            <a:avLst>
              <a:gd name="adj" fmla="val 4255"/>
            </a:avLst>
          </a:prstGeom>
          <a:solidFill>
            <a:schemeClr val="bg2"/>
          </a:solidFill>
          <a:ln/>
        </p:spPr>
      </p:sp>
      <p:sp>
        <p:nvSpPr>
          <p:cNvPr id="6" name="Texto 226"/>
          <p:cNvSpPr txBox="1"/>
          <p:nvPr/>
        </p:nvSpPr>
        <p:spPr>
          <a:xfrm>
            <a:off x="7406640" y="1920240"/>
            <a:ext cx="3931920" cy="365760"/>
          </a:xfrm>
          <a:prstGeom prst="rect">
            <a:avLst/>
          </a:prstGeom>
          <a:noFill/>
          <a:ln/>
        </p:spPr>
        <p:txBody>
          <a:bodyPr wrap="square" lIns="0" tIns="0" rIns="0" bIns="0" rtlCol="0" anchor="t"/>
          <a:lstStyle/>
          <a:p>
            <a:pPr indent="0" marL="0">
              <a:buNone/>
            </a:pPr>
            <a:r>
              <a:rPr lang="en-US" sz="1800" b="1" dirty="0">
                <a:solidFill>
                  <a:schemeClr val="tx2"/>
                </a:solidFill>
              </a:rPr>
              <a:t>Base de datos: Neon</a:t>
            </a:r>
            <a:endParaRPr lang="en-US" sz="1800" dirty="0"/>
          </a:p>
        </p:txBody>
      </p:sp>
      <p:sp>
        <p:nvSpPr>
          <p:cNvPr id="7" name="Texto 227"/>
          <p:cNvSpPr txBox="1"/>
          <p:nvPr/>
        </p:nvSpPr>
        <p:spPr>
          <a:xfrm>
            <a:off x="7406640" y="2423160"/>
            <a:ext cx="3931920" cy="1325880"/>
          </a:xfrm>
          <a:prstGeom prst="rect">
            <a:avLst/>
          </a:prstGeom>
          <a:noFill/>
          <a:ln/>
        </p:spPr>
        <p:txBody>
          <a:bodyPr wrap="square" lIns="0" tIns="0" rIns="0" bIns="0" rtlCol="0" anchor="t"/>
          <a:lstStyle/>
          <a:p>
            <a:pPr indent="0" marL="0">
              <a:buNone/>
            </a:pPr>
            <a:r>
              <a:rPr lang="en-US" sz="1600" dirty="0">
                <a:solidFill>
                  <a:schemeClr val="tx1"/>
                </a:solidFill>
              </a:rPr>
              <a:t>PostgreSQL en la nube compartido por el equipo. La cadena de conexión va en DATABASE_URL, fuera de GitHub. Respaldo: SQLite local sin internet.</a:t>
            </a:r>
            <a:endParaRPr lang="en-US" sz="1600" dirty="0"/>
          </a:p>
        </p:txBody>
      </p:sp>
      <p:sp>
        <p:nvSpPr>
          <p:cNvPr id="8" name="Tarjeta 228"/>
          <p:cNvSpPr/>
          <p:nvPr/>
        </p:nvSpPr>
        <p:spPr>
          <a:xfrm>
            <a:off x="7132320" y="4069080"/>
            <a:ext cx="4480560" cy="2148840"/>
          </a:xfrm>
          <a:prstGeom prst="roundRect">
            <a:avLst>
              <a:gd name="adj" fmla="val 4255"/>
            </a:avLst>
          </a:prstGeom>
          <a:solidFill>
            <a:schemeClr val="bg2"/>
          </a:solidFill>
          <a:ln/>
        </p:spPr>
      </p:sp>
      <p:sp>
        <p:nvSpPr>
          <p:cNvPr id="9" name="Texto 229"/>
          <p:cNvSpPr txBox="1"/>
          <p:nvPr/>
        </p:nvSpPr>
        <p:spPr>
          <a:xfrm>
            <a:off x="7406640" y="4297680"/>
            <a:ext cx="3931920" cy="365760"/>
          </a:xfrm>
          <a:prstGeom prst="rect">
            <a:avLst/>
          </a:prstGeom>
          <a:noFill/>
          <a:ln/>
        </p:spPr>
        <p:txBody>
          <a:bodyPr wrap="square" lIns="0" tIns="0" rIns="0" bIns="0" rtlCol="0" anchor="t"/>
          <a:lstStyle/>
          <a:p>
            <a:pPr indent="0" marL="0">
              <a:buNone/>
            </a:pPr>
            <a:r>
              <a:rPr lang="en-US" sz="1800" b="1" dirty="0">
                <a:solidFill>
                  <a:schemeClr val="tx2"/>
                </a:solidFill>
              </a:rPr>
              <a:t>Modo de recolección</a:t>
            </a:r>
            <a:endParaRPr lang="en-US" sz="1800" dirty="0"/>
          </a:p>
        </p:txBody>
      </p:sp>
      <p:sp>
        <p:nvSpPr>
          <p:cNvPr id="10" name="Texto 230"/>
          <p:cNvSpPr txBox="1"/>
          <p:nvPr/>
        </p:nvSpPr>
        <p:spPr>
          <a:xfrm>
            <a:off x="7406640" y="4800600"/>
            <a:ext cx="3931920" cy="1325880"/>
          </a:xfrm>
          <a:prstGeom prst="rect">
            <a:avLst/>
          </a:prstGeom>
          <a:noFill/>
          <a:ln/>
        </p:spPr>
        <p:txBody>
          <a:bodyPr wrap="square" lIns="0" tIns="0" rIns="0" bIns="0" rtlCol="0" anchor="t"/>
          <a:lstStyle/>
          <a:p>
            <a:pPr indent="0" marL="0">
              <a:buNone/>
            </a:pPr>
            <a:r>
              <a:rPr lang="en-US" sz="1600" dirty="0">
                <a:solidFill>
                  <a:schemeClr val="tx1"/>
                </a:solidFill>
              </a:rPr>
              <a:t>psutil lee el equipo donde se ejecuta: se valida primero en el equipo local (Sprint 2). Servidores remotos: por definir, por ejemplo SSH con las credenciales guardadas.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5 · ARQUITECTURA DEL PROYECTO</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De Polling a WebSockets</a:t>
            </a:r>
            <a:endParaRPr lang="en-US" sz="3600" dirty="0"/>
          </a:p>
        </p:txBody>
      </p:sp>
      <p:pic>
        <p:nvPicPr>
          <p:cNvPr id="4" name="Figura 231" descr="Comparación entre Polling y WebSockets">    </p:cNvPr>
          <p:cNvPicPr>
            <a:picLocks noChangeAspect="1"/>
          </p:cNvPicPr>
          <p:nvPr/>
        </p:nvPicPr>
        <p:blipFill>
          <a:blip r:embed="rId1"/>
          <a:stretch>
            <a:fillRect/>
          </a:stretch>
        </p:blipFill>
        <p:spPr>
          <a:xfrm>
            <a:off x="548640" y="1691640"/>
            <a:ext cx="6300788" cy="4480560"/>
          </a:xfrm>
          <a:prstGeom prst="rect">
            <a:avLst/>
          </a:prstGeom>
        </p:spPr>
      </p:pic>
      <p:sp>
        <p:nvSpPr>
          <p:cNvPr id="5" name="Tarjeta 232"/>
          <p:cNvSpPr/>
          <p:nvPr/>
        </p:nvSpPr>
        <p:spPr>
          <a:xfrm>
            <a:off x="7223760" y="1691640"/>
            <a:ext cx="4389120" cy="1371600"/>
          </a:xfrm>
          <a:prstGeom prst="roundRect">
            <a:avLst>
              <a:gd name="adj" fmla="val 6667"/>
            </a:avLst>
          </a:prstGeom>
          <a:solidFill>
            <a:schemeClr val="bg2"/>
          </a:solidFill>
          <a:ln/>
        </p:spPr>
      </p:sp>
      <p:sp>
        <p:nvSpPr>
          <p:cNvPr id="6" name="Texto 233"/>
          <p:cNvSpPr txBox="1"/>
          <p:nvPr/>
        </p:nvSpPr>
        <p:spPr>
          <a:xfrm>
            <a:off x="7498080" y="1847088"/>
            <a:ext cx="3840480" cy="320040"/>
          </a:xfrm>
          <a:prstGeom prst="rect">
            <a:avLst/>
          </a:prstGeom>
          <a:noFill/>
          <a:ln/>
        </p:spPr>
        <p:txBody>
          <a:bodyPr wrap="square" lIns="0" tIns="0" rIns="0" bIns="0" rtlCol="0" anchor="t"/>
          <a:lstStyle/>
          <a:p>
            <a:pPr indent="0" marL="0">
              <a:buNone/>
            </a:pPr>
            <a:r>
              <a:rPr lang="en-US" sz="1600" b="1" dirty="0">
                <a:solidFill>
                  <a:schemeClr val="tx2"/>
                </a:solidFill>
              </a:rPr>
              <a:t>V1 · Polling</a:t>
            </a:r>
            <a:endParaRPr lang="en-US" sz="1600" dirty="0"/>
          </a:p>
        </p:txBody>
      </p:sp>
      <p:sp>
        <p:nvSpPr>
          <p:cNvPr id="7" name="Texto 234"/>
          <p:cNvSpPr txBox="1"/>
          <p:nvPr/>
        </p:nvSpPr>
        <p:spPr>
          <a:xfrm>
            <a:off x="7498080" y="2221992"/>
            <a:ext cx="3840480" cy="777240"/>
          </a:xfrm>
          <a:prstGeom prst="rect">
            <a:avLst/>
          </a:prstGeom>
          <a:noFill/>
          <a:ln/>
        </p:spPr>
        <p:txBody>
          <a:bodyPr wrap="square" lIns="0" tIns="0" rIns="0" bIns="0" rtlCol="0" anchor="t"/>
          <a:lstStyle/>
          <a:p>
            <a:pPr indent="0" marL="0">
              <a:buNone/>
            </a:pPr>
            <a:r>
              <a:rPr lang="en-US" sz="1500" dirty="0">
                <a:solidFill>
                  <a:schemeClr val="tx1"/>
                </a:solidFill>
              </a:rPr>
              <a:t>El cliente consulta cada X segundos (Paradigma 1, Semana 1). Es la versión funcional del Sprint 2.</a:t>
            </a:r>
            <a:endParaRPr lang="en-US" sz="1500" dirty="0"/>
          </a:p>
        </p:txBody>
      </p:sp>
      <p:sp>
        <p:nvSpPr>
          <p:cNvPr id="8" name="Tarjeta 235"/>
          <p:cNvSpPr/>
          <p:nvPr/>
        </p:nvSpPr>
        <p:spPr>
          <a:xfrm>
            <a:off x="7223760" y="3200400"/>
            <a:ext cx="4389120" cy="1371600"/>
          </a:xfrm>
          <a:prstGeom prst="roundRect">
            <a:avLst>
              <a:gd name="adj" fmla="val 6667"/>
            </a:avLst>
          </a:prstGeom>
          <a:solidFill>
            <a:schemeClr val="bg2"/>
          </a:solidFill>
          <a:ln/>
        </p:spPr>
      </p:sp>
      <p:sp>
        <p:nvSpPr>
          <p:cNvPr id="9" name="Texto 236"/>
          <p:cNvSpPr txBox="1"/>
          <p:nvPr/>
        </p:nvSpPr>
        <p:spPr>
          <a:xfrm>
            <a:off x="7498080" y="3355848"/>
            <a:ext cx="3840480" cy="320040"/>
          </a:xfrm>
          <a:prstGeom prst="rect">
            <a:avLst/>
          </a:prstGeom>
          <a:noFill/>
          <a:ln/>
        </p:spPr>
        <p:txBody>
          <a:bodyPr wrap="square" lIns="0" tIns="0" rIns="0" bIns="0" rtlCol="0" anchor="t"/>
          <a:lstStyle/>
          <a:p>
            <a:pPr indent="0" marL="0">
              <a:buNone/>
            </a:pPr>
            <a:r>
              <a:rPr lang="en-US" sz="1600" b="1" dirty="0">
                <a:solidFill>
                  <a:schemeClr val="tx2"/>
                </a:solidFill>
              </a:rPr>
              <a:t>V2 · WebSockets</a:t>
            </a:r>
            <a:endParaRPr lang="en-US" sz="1600" dirty="0"/>
          </a:p>
        </p:txBody>
      </p:sp>
      <p:sp>
        <p:nvSpPr>
          <p:cNvPr id="10" name="Texto 237"/>
          <p:cNvSpPr txBox="1"/>
          <p:nvPr/>
        </p:nvSpPr>
        <p:spPr>
          <a:xfrm>
            <a:off x="7498080" y="3730752"/>
            <a:ext cx="3840480" cy="777240"/>
          </a:xfrm>
          <a:prstGeom prst="rect">
            <a:avLst/>
          </a:prstGeom>
          <a:noFill/>
          <a:ln/>
        </p:spPr>
        <p:txBody>
          <a:bodyPr wrap="square" lIns="0" tIns="0" rIns="0" bIns="0" rtlCol="0" anchor="t"/>
          <a:lstStyle/>
          <a:p>
            <a:pPr indent="0" marL="0">
              <a:buNone/>
            </a:pPr>
            <a:r>
              <a:rPr lang="en-US" sz="1500" dirty="0">
                <a:solidFill>
                  <a:schemeClr val="tx1"/>
                </a:solidFill>
              </a:rPr>
              <a:t>Canal abierto: el servidor envía los datos al detectar un cambio (Paradigma 2). Se evalúa en el Sprint 3.</a:t>
            </a:r>
            <a:endParaRPr lang="en-US" sz="1500" dirty="0"/>
          </a:p>
        </p:txBody>
      </p:sp>
      <p:sp>
        <p:nvSpPr>
          <p:cNvPr id="11" name="Tarjeta 238"/>
          <p:cNvSpPr/>
          <p:nvPr/>
        </p:nvSpPr>
        <p:spPr>
          <a:xfrm>
            <a:off x="7223760" y="4709160"/>
            <a:ext cx="4389120" cy="1371600"/>
          </a:xfrm>
          <a:prstGeom prst="roundRect">
            <a:avLst>
              <a:gd name="adj" fmla="val 6667"/>
            </a:avLst>
          </a:prstGeom>
          <a:solidFill>
            <a:schemeClr val="bg2"/>
          </a:solidFill>
          <a:ln/>
        </p:spPr>
      </p:sp>
      <p:sp>
        <p:nvSpPr>
          <p:cNvPr id="12" name="Texto 239"/>
          <p:cNvSpPr txBox="1"/>
          <p:nvPr/>
        </p:nvSpPr>
        <p:spPr>
          <a:xfrm>
            <a:off x="7498080" y="4864608"/>
            <a:ext cx="3840480" cy="320040"/>
          </a:xfrm>
          <a:prstGeom prst="rect">
            <a:avLst/>
          </a:prstGeom>
          <a:noFill/>
          <a:ln/>
        </p:spPr>
        <p:txBody>
          <a:bodyPr wrap="square" lIns="0" tIns="0" rIns="0" bIns="0" rtlCol="0" anchor="t"/>
          <a:lstStyle/>
          <a:p>
            <a:pPr indent="0" marL="0">
              <a:buNone/>
            </a:pPr>
            <a:r>
              <a:rPr lang="en-US" sz="1600" b="1" dirty="0">
                <a:solidFill>
                  <a:schemeClr val="tx2"/>
                </a:solidFill>
              </a:rPr>
              <a:t>Decisión</a:t>
            </a:r>
            <a:endParaRPr lang="en-US" sz="1600" dirty="0"/>
          </a:p>
        </p:txBody>
      </p:sp>
      <p:sp>
        <p:nvSpPr>
          <p:cNvPr id="13" name="Texto 240"/>
          <p:cNvSpPr txBox="1"/>
          <p:nvPr/>
        </p:nvSpPr>
        <p:spPr>
          <a:xfrm>
            <a:off x="7498080" y="5239512"/>
            <a:ext cx="3840480" cy="777240"/>
          </a:xfrm>
          <a:prstGeom prst="rect">
            <a:avLst/>
          </a:prstGeom>
          <a:noFill/>
          <a:ln/>
        </p:spPr>
        <p:txBody>
          <a:bodyPr wrap="square" lIns="0" tIns="0" rIns="0" bIns="0" rtlCol="0" anchor="t"/>
          <a:lstStyle/>
          <a:p>
            <a:pPr indent="0" marL="0">
              <a:buNone/>
            </a:pPr>
            <a:r>
              <a:rPr lang="en-US" sz="1500" dirty="0">
                <a:solidFill>
                  <a:schemeClr val="tx1"/>
                </a:solidFill>
              </a:rPr>
              <a:t>Polling se mantiene como base; WebSockets es una mejora, no un requisito.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6 · BASE DE DATOS Y RELACIÓN DE TABLAS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Base de datos y relación de tablas</a:t>
            </a:r>
            <a:endParaRPr lang="en-US" sz="3600" dirty="0"/>
          </a:p>
        </p:txBody>
      </p:sp>
      <p:pic>
        <p:nvPicPr>
          <p:cNvPr id="4" name="Figura 241" descr="Diagrama entidad-relación: Usuario 1 a N Servidor, Servidor 1 a N Reporte">    </p:cNvPr>
          <p:cNvPicPr>
            <a:picLocks noChangeAspect="1"/>
          </p:cNvPicPr>
          <p:nvPr/>
        </p:nvPicPr>
        <p:blipFill>
          <a:blip r:embed="rId1"/>
          <a:stretch>
            <a:fillRect/>
          </a:stretch>
        </p:blipFill>
        <p:spPr>
          <a:xfrm>
            <a:off x="548640" y="1691640"/>
            <a:ext cx="7223760" cy="2749954"/>
          </a:xfrm>
          <a:prstGeom prst="rect">
            <a:avLst/>
          </a:prstGeom>
        </p:spPr>
      </p:pic>
      <p:sp>
        <p:nvSpPr>
          <p:cNvPr id="5" name="Tarjeta 242"/>
          <p:cNvSpPr/>
          <p:nvPr/>
        </p:nvSpPr>
        <p:spPr>
          <a:xfrm>
            <a:off x="548640" y="4853074"/>
            <a:ext cx="2286000" cy="1280160"/>
          </a:xfrm>
          <a:prstGeom prst="roundRect">
            <a:avLst>
              <a:gd name="adj" fmla="val 7143"/>
            </a:avLst>
          </a:prstGeom>
          <a:solidFill>
            <a:schemeClr val="bg2"/>
          </a:solidFill>
          <a:ln/>
        </p:spPr>
      </p:sp>
      <p:sp>
        <p:nvSpPr>
          <p:cNvPr id="6" name="Texto 243"/>
          <p:cNvSpPr txBox="1"/>
          <p:nvPr/>
        </p:nvSpPr>
        <p:spPr>
          <a:xfrm>
            <a:off x="822960" y="4990234"/>
            <a:ext cx="914400" cy="73152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6</a:t>
            </a:r>
            <a:endParaRPr lang="en-US" sz="4000" dirty="0"/>
          </a:p>
        </p:txBody>
      </p:sp>
      <p:sp>
        <p:nvSpPr>
          <p:cNvPr id="7" name="Texto 244"/>
          <p:cNvSpPr txBox="1"/>
          <p:nvPr/>
        </p:nvSpPr>
        <p:spPr>
          <a:xfrm>
            <a:off x="822960" y="5721754"/>
            <a:ext cx="1737360" cy="411480"/>
          </a:xfrm>
          <a:prstGeom prst="rect">
            <a:avLst/>
          </a:prstGeom>
          <a:noFill/>
          <a:ln/>
        </p:spPr>
        <p:txBody>
          <a:bodyPr wrap="square" lIns="0" tIns="0" rIns="0" bIns="0" rtlCol="0" anchor="t"/>
          <a:lstStyle/>
          <a:p>
            <a:pPr indent="0" marL="0">
              <a:buNone/>
            </a:pPr>
            <a:r>
              <a:rPr lang="en-US" sz="1400" dirty="0">
                <a:solidFill>
                  <a:schemeClr val="accent6"/>
                </a:solidFill>
              </a:rPr>
              <a:t>campos en Usuario</a:t>
            </a:r>
            <a:endParaRPr lang="en-US" sz="1400" dirty="0"/>
          </a:p>
        </p:txBody>
      </p:sp>
      <p:sp>
        <p:nvSpPr>
          <p:cNvPr id="8" name="Tarjeta 245"/>
          <p:cNvSpPr/>
          <p:nvPr/>
        </p:nvSpPr>
        <p:spPr>
          <a:xfrm>
            <a:off x="3017520" y="4853074"/>
            <a:ext cx="2286000" cy="1280160"/>
          </a:xfrm>
          <a:prstGeom prst="roundRect">
            <a:avLst>
              <a:gd name="adj" fmla="val 7143"/>
            </a:avLst>
          </a:prstGeom>
          <a:solidFill>
            <a:schemeClr val="bg2"/>
          </a:solidFill>
          <a:ln/>
        </p:spPr>
      </p:sp>
      <p:sp>
        <p:nvSpPr>
          <p:cNvPr id="9" name="Texto 246"/>
          <p:cNvSpPr txBox="1"/>
          <p:nvPr/>
        </p:nvSpPr>
        <p:spPr>
          <a:xfrm>
            <a:off x="3291840" y="4990234"/>
            <a:ext cx="914400" cy="73152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7</a:t>
            </a:r>
            <a:endParaRPr lang="en-US" sz="4000" dirty="0"/>
          </a:p>
        </p:txBody>
      </p:sp>
      <p:sp>
        <p:nvSpPr>
          <p:cNvPr id="10" name="Texto 247"/>
          <p:cNvSpPr txBox="1"/>
          <p:nvPr/>
        </p:nvSpPr>
        <p:spPr>
          <a:xfrm>
            <a:off x="3291840" y="5721754"/>
            <a:ext cx="1737360" cy="411480"/>
          </a:xfrm>
          <a:prstGeom prst="rect">
            <a:avLst/>
          </a:prstGeom>
          <a:noFill/>
          <a:ln/>
        </p:spPr>
        <p:txBody>
          <a:bodyPr wrap="square" lIns="0" tIns="0" rIns="0" bIns="0" rtlCol="0" anchor="t"/>
          <a:lstStyle/>
          <a:p>
            <a:pPr indent="0" marL="0">
              <a:buNone/>
            </a:pPr>
            <a:r>
              <a:rPr lang="en-US" sz="1400" dirty="0">
                <a:solidFill>
                  <a:schemeClr val="accent6"/>
                </a:solidFill>
              </a:rPr>
              <a:t>campos en Servidor</a:t>
            </a:r>
            <a:endParaRPr lang="en-US" sz="1400" dirty="0"/>
          </a:p>
        </p:txBody>
      </p:sp>
      <p:sp>
        <p:nvSpPr>
          <p:cNvPr id="11" name="Tarjeta 248"/>
          <p:cNvSpPr/>
          <p:nvPr/>
        </p:nvSpPr>
        <p:spPr>
          <a:xfrm>
            <a:off x="5486400" y="4853074"/>
            <a:ext cx="2286000" cy="1280160"/>
          </a:xfrm>
          <a:prstGeom prst="roundRect">
            <a:avLst>
              <a:gd name="adj" fmla="val 7143"/>
            </a:avLst>
          </a:prstGeom>
          <a:solidFill>
            <a:schemeClr val="bg2"/>
          </a:solidFill>
          <a:ln/>
        </p:spPr>
      </p:sp>
      <p:sp>
        <p:nvSpPr>
          <p:cNvPr id="12" name="Texto 249"/>
          <p:cNvSpPr txBox="1"/>
          <p:nvPr/>
        </p:nvSpPr>
        <p:spPr>
          <a:xfrm>
            <a:off x="5760720" y="4990234"/>
            <a:ext cx="914400" cy="73152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9</a:t>
            </a:r>
            <a:endParaRPr lang="en-US" sz="4000" dirty="0"/>
          </a:p>
        </p:txBody>
      </p:sp>
      <p:sp>
        <p:nvSpPr>
          <p:cNvPr id="13" name="Texto 250"/>
          <p:cNvSpPr txBox="1"/>
          <p:nvPr/>
        </p:nvSpPr>
        <p:spPr>
          <a:xfrm>
            <a:off x="5760720" y="5721754"/>
            <a:ext cx="1737360" cy="411480"/>
          </a:xfrm>
          <a:prstGeom prst="rect">
            <a:avLst/>
          </a:prstGeom>
          <a:noFill/>
          <a:ln/>
        </p:spPr>
        <p:txBody>
          <a:bodyPr wrap="square" lIns="0" tIns="0" rIns="0" bIns="0" rtlCol="0" anchor="t"/>
          <a:lstStyle/>
          <a:p>
            <a:pPr indent="0" marL="0">
              <a:buNone/>
            </a:pPr>
            <a:r>
              <a:rPr lang="en-US" sz="1400" dirty="0">
                <a:solidFill>
                  <a:schemeClr val="accent6"/>
                </a:solidFill>
              </a:rPr>
              <a:t>campos en Reporte</a:t>
            </a:r>
            <a:endParaRPr lang="en-US" sz="1400" dirty="0"/>
          </a:p>
        </p:txBody>
      </p:sp>
      <p:sp>
        <p:nvSpPr>
          <p:cNvPr id="14" name="Tarjeta 251"/>
          <p:cNvSpPr/>
          <p:nvPr/>
        </p:nvSpPr>
        <p:spPr>
          <a:xfrm>
            <a:off x="8092440" y="1691640"/>
            <a:ext cx="3520440" cy="987552"/>
          </a:xfrm>
          <a:prstGeom prst="roundRect">
            <a:avLst>
              <a:gd name="adj" fmla="val 9259"/>
            </a:avLst>
          </a:prstGeom>
          <a:solidFill>
            <a:schemeClr val="bg2"/>
          </a:solidFill>
          <a:ln/>
        </p:spPr>
      </p:sp>
      <p:sp>
        <p:nvSpPr>
          <p:cNvPr id="15" name="Texto 252"/>
          <p:cNvSpPr txBox="1"/>
          <p:nvPr/>
        </p:nvSpPr>
        <p:spPr>
          <a:xfrm>
            <a:off x="8321040" y="1691640"/>
            <a:ext cx="3063240" cy="987552"/>
          </a:xfrm>
          <a:prstGeom prst="rect">
            <a:avLst/>
          </a:prstGeom>
          <a:noFill/>
          <a:ln/>
        </p:spPr>
        <p:txBody>
          <a:bodyPr wrap="square" lIns="0" tIns="0" rIns="0" bIns="0" rtlCol="0" anchor="ctr"/>
          <a:lstStyle/>
          <a:p>
            <a:pPr indent="0" marL="0">
              <a:buNone/>
            </a:pPr>
            <a:r>
              <a:rPr lang="en-US" sz="1500" dirty="0">
                <a:solidFill>
                  <a:schemeClr val="tx1"/>
                </a:solidFill>
              </a:rPr>
              <a:t>Contraseñas con hash; credenciales de servidores cifradas.</a:t>
            </a:r>
            <a:endParaRPr lang="en-US" sz="1500" dirty="0"/>
          </a:p>
        </p:txBody>
      </p:sp>
      <p:sp>
        <p:nvSpPr>
          <p:cNvPr id="16" name="Tarjeta 253"/>
          <p:cNvSpPr/>
          <p:nvPr/>
        </p:nvSpPr>
        <p:spPr>
          <a:xfrm>
            <a:off x="8092440" y="2807208"/>
            <a:ext cx="3520440" cy="987552"/>
          </a:xfrm>
          <a:prstGeom prst="roundRect">
            <a:avLst>
              <a:gd name="adj" fmla="val 9259"/>
            </a:avLst>
          </a:prstGeom>
          <a:solidFill>
            <a:schemeClr val="bg2"/>
          </a:solidFill>
          <a:ln/>
        </p:spPr>
      </p:sp>
      <p:sp>
        <p:nvSpPr>
          <p:cNvPr id="17" name="Texto 254"/>
          <p:cNvSpPr txBox="1"/>
          <p:nvPr/>
        </p:nvSpPr>
        <p:spPr>
          <a:xfrm>
            <a:off x="8321040" y="2807208"/>
            <a:ext cx="3063240" cy="987552"/>
          </a:xfrm>
          <a:prstGeom prst="rect">
            <a:avLst/>
          </a:prstGeom>
          <a:noFill/>
          <a:ln/>
        </p:spPr>
        <p:txBody>
          <a:bodyPr wrap="square" lIns="0" tIns="0" rIns="0" bIns="0" rtlCol="0" anchor="ctr"/>
          <a:lstStyle/>
          <a:p>
            <a:pPr indent="0" marL="0">
              <a:buNone/>
            </a:pPr>
            <a:r>
              <a:rPr lang="en-US" sz="1500" dirty="0">
                <a:solidFill>
                  <a:schemeClr val="tx1"/>
                </a:solidFill>
              </a:rPr>
              <a:t>Batería nula: un equipo sin batería no genera error.</a:t>
            </a:r>
            <a:endParaRPr lang="en-US" sz="1500" dirty="0"/>
          </a:p>
        </p:txBody>
      </p:sp>
      <p:sp>
        <p:nvSpPr>
          <p:cNvPr id="18" name="Tarjeta 255"/>
          <p:cNvSpPr/>
          <p:nvPr/>
        </p:nvSpPr>
        <p:spPr>
          <a:xfrm>
            <a:off x="8092440" y="3922776"/>
            <a:ext cx="3520440" cy="987552"/>
          </a:xfrm>
          <a:prstGeom prst="roundRect">
            <a:avLst>
              <a:gd name="adj" fmla="val 9259"/>
            </a:avLst>
          </a:prstGeom>
          <a:solidFill>
            <a:schemeClr val="bg2"/>
          </a:solidFill>
          <a:ln/>
        </p:spPr>
      </p:sp>
      <p:sp>
        <p:nvSpPr>
          <p:cNvPr id="19" name="Texto 256"/>
          <p:cNvSpPr txBox="1"/>
          <p:nvPr/>
        </p:nvSpPr>
        <p:spPr>
          <a:xfrm>
            <a:off x="8321040" y="3922776"/>
            <a:ext cx="3063240" cy="987552"/>
          </a:xfrm>
          <a:prstGeom prst="rect">
            <a:avLst/>
          </a:prstGeom>
          <a:noFill/>
          <a:ln/>
        </p:spPr>
        <p:txBody>
          <a:bodyPr wrap="square" lIns="0" tIns="0" rIns="0" bIns="0" rtlCol="0" anchor="ctr"/>
          <a:lstStyle/>
          <a:p>
            <a:pPr indent="0" marL="0">
              <a:buNone/>
            </a:pPr>
            <a:r>
              <a:rPr lang="en-US" sz="1500" dirty="0">
                <a:solidFill>
                  <a:schemeClr val="tx1"/>
                </a:solidFill>
              </a:rPr>
              <a:t>Índice en servidor_id y timestamp para consultas por fecha rápidas.</a:t>
            </a:r>
            <a:endParaRPr lang="en-US" sz="1500" dirty="0"/>
          </a:p>
        </p:txBody>
      </p:sp>
      <p:sp>
        <p:nvSpPr>
          <p:cNvPr id="20" name="Tarjeta 257"/>
          <p:cNvSpPr/>
          <p:nvPr/>
        </p:nvSpPr>
        <p:spPr>
          <a:xfrm>
            <a:off x="8092440" y="5038344"/>
            <a:ext cx="3520440" cy="987552"/>
          </a:xfrm>
          <a:prstGeom prst="roundRect">
            <a:avLst>
              <a:gd name="adj" fmla="val 9259"/>
            </a:avLst>
          </a:prstGeom>
          <a:solidFill>
            <a:schemeClr val="bg2"/>
          </a:solidFill>
          <a:ln/>
        </p:spPr>
      </p:sp>
      <p:sp>
        <p:nvSpPr>
          <p:cNvPr id="21" name="Texto 258"/>
          <p:cNvSpPr txBox="1"/>
          <p:nvPr/>
        </p:nvSpPr>
        <p:spPr>
          <a:xfrm>
            <a:off x="8321040" y="5038344"/>
            <a:ext cx="3063240" cy="987552"/>
          </a:xfrm>
          <a:prstGeom prst="rect">
            <a:avLst/>
          </a:prstGeom>
          <a:noFill/>
          <a:ln/>
        </p:spPr>
        <p:txBody>
          <a:bodyPr wrap="square" lIns="0" tIns="0" rIns="0" bIns="0" rtlCol="0" anchor="ctr"/>
          <a:lstStyle/>
          <a:p>
            <a:pPr indent="0" marL="0">
              <a:buNone/>
            </a:pPr>
            <a:r>
              <a:rPr lang="en-US" sz="1500" dirty="0">
                <a:solidFill>
                  <a:schemeClr val="tx1"/>
                </a:solidFill>
              </a:rPr>
              <a:t>Campo rol (admin o visor) en Usuario.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7 · PLANNING GENERAL Y GESTIÓN DE SPRINTS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Planning general por sprints</a:t>
            </a:r>
            <a:endParaRPr lang="en-US" sz="3600" dirty="0"/>
          </a:p>
        </p:txBody>
      </p:sp>
      <p:pic>
        <p:nvPicPr>
          <p:cNvPr id="4" name="Figura 259" descr="Cuatro sprints: Sprint 0 análisis y diseño, Sprint 1 base y acceso, Sprint 2 núcleo de monitoreo, Sprint 3 historial y cierre">    </p:cNvPr>
          <p:cNvPicPr>
            <a:picLocks noChangeAspect="1"/>
          </p:cNvPicPr>
          <p:nvPr/>
        </p:nvPicPr>
        <p:blipFill>
          <a:blip r:embed="rId1"/>
          <a:stretch>
            <a:fillRect/>
          </a:stretch>
        </p:blipFill>
        <p:spPr>
          <a:xfrm>
            <a:off x="960120" y="1691640"/>
            <a:ext cx="10241280" cy="2926080"/>
          </a:xfrm>
          <a:prstGeom prst="rect">
            <a:avLst/>
          </a:prstGeom>
        </p:spPr>
      </p:pic>
      <p:sp>
        <p:nvSpPr>
          <p:cNvPr id="5" name="Tarjeta 260"/>
          <p:cNvSpPr/>
          <p:nvPr/>
        </p:nvSpPr>
        <p:spPr>
          <a:xfrm>
            <a:off x="548640" y="4937760"/>
            <a:ext cx="3566160" cy="1188720"/>
          </a:xfrm>
          <a:prstGeom prst="roundRect">
            <a:avLst>
              <a:gd name="adj" fmla="val 7692"/>
            </a:avLst>
          </a:prstGeom>
          <a:solidFill>
            <a:schemeClr val="bg2"/>
          </a:solidFill>
          <a:ln/>
        </p:spPr>
      </p:sp>
      <p:sp>
        <p:nvSpPr>
          <p:cNvPr id="6" name="Texto 261"/>
          <p:cNvSpPr txBox="1"/>
          <p:nvPr/>
        </p:nvSpPr>
        <p:spPr>
          <a:xfrm>
            <a:off x="777240" y="5074920"/>
            <a:ext cx="3108960" cy="292608"/>
          </a:xfrm>
          <a:prstGeom prst="rect">
            <a:avLst/>
          </a:prstGeom>
          <a:noFill/>
          <a:ln/>
        </p:spPr>
        <p:txBody>
          <a:bodyPr wrap="square" lIns="0" tIns="0" rIns="0" bIns="0" rtlCol="0" anchor="t"/>
          <a:lstStyle/>
          <a:p>
            <a:pPr indent="0" marL="0">
              <a:buNone/>
            </a:pPr>
            <a:r>
              <a:rPr lang="en-US" sz="1600" b="1" dirty="0">
                <a:solidFill>
                  <a:schemeClr val="tx2"/>
                </a:solidFill>
              </a:rPr>
              <a:t>Scrum simplificado</a:t>
            </a:r>
            <a:endParaRPr lang="en-US" sz="1600" dirty="0"/>
          </a:p>
        </p:txBody>
      </p:sp>
      <p:sp>
        <p:nvSpPr>
          <p:cNvPr id="7" name="Texto 262"/>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500" dirty="0">
                <a:solidFill>
                  <a:schemeClr val="tx1"/>
                </a:solidFill>
              </a:rPr>
              <a:t>Sprints de 2 semanas desde el Sprint 1.</a:t>
            </a:r>
            <a:endParaRPr lang="en-US" sz="1500" dirty="0"/>
          </a:p>
        </p:txBody>
      </p:sp>
      <p:sp>
        <p:nvSpPr>
          <p:cNvPr id="8" name="Tarjeta 263"/>
          <p:cNvSpPr/>
          <p:nvPr/>
        </p:nvSpPr>
        <p:spPr>
          <a:xfrm>
            <a:off x="4297680" y="4937760"/>
            <a:ext cx="3566160" cy="1188720"/>
          </a:xfrm>
          <a:prstGeom prst="roundRect">
            <a:avLst>
              <a:gd name="adj" fmla="val 7692"/>
            </a:avLst>
          </a:prstGeom>
          <a:solidFill>
            <a:schemeClr val="bg2"/>
          </a:solidFill>
          <a:ln/>
        </p:spPr>
      </p:sp>
      <p:sp>
        <p:nvSpPr>
          <p:cNvPr id="9" name="Texto 264"/>
          <p:cNvSpPr txBox="1"/>
          <p:nvPr/>
        </p:nvSpPr>
        <p:spPr>
          <a:xfrm>
            <a:off x="4526280" y="5074920"/>
            <a:ext cx="3108960" cy="292608"/>
          </a:xfrm>
          <a:prstGeom prst="rect">
            <a:avLst/>
          </a:prstGeom>
          <a:noFill/>
          <a:ln/>
        </p:spPr>
        <p:txBody>
          <a:bodyPr wrap="square" lIns="0" tIns="0" rIns="0" bIns="0" rtlCol="0" anchor="t"/>
          <a:lstStyle/>
          <a:p>
            <a:pPr indent="0" marL="0">
              <a:buNone/>
            </a:pPr>
            <a:r>
              <a:rPr lang="en-US" sz="1600" b="1" dirty="0">
                <a:solidFill>
                  <a:schemeClr val="tx2"/>
                </a:solidFill>
              </a:rPr>
              <a:t>Tablero Kanban</a:t>
            </a:r>
            <a:endParaRPr lang="en-US" sz="1600" dirty="0"/>
          </a:p>
        </p:txBody>
      </p:sp>
      <p:sp>
        <p:nvSpPr>
          <p:cNvPr id="10" name="Texto 265"/>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500" dirty="0">
                <a:solidFill>
                  <a:schemeClr val="tx1"/>
                </a:solidFill>
              </a:rPr>
              <a:t>GitHub Projects: Por hacer, En curso, Hecho.</a:t>
            </a:r>
            <a:endParaRPr lang="en-US" sz="1500" dirty="0"/>
          </a:p>
        </p:txBody>
      </p:sp>
      <p:sp>
        <p:nvSpPr>
          <p:cNvPr id="11" name="Tarjeta 266"/>
          <p:cNvSpPr/>
          <p:nvPr/>
        </p:nvSpPr>
        <p:spPr>
          <a:xfrm>
            <a:off x="8046720" y="4937760"/>
            <a:ext cx="3566160" cy="1188720"/>
          </a:xfrm>
          <a:prstGeom prst="roundRect">
            <a:avLst>
              <a:gd name="adj" fmla="val 7692"/>
            </a:avLst>
          </a:prstGeom>
          <a:solidFill>
            <a:schemeClr val="bg2"/>
          </a:solidFill>
          <a:ln/>
        </p:spPr>
      </p:sp>
      <p:sp>
        <p:nvSpPr>
          <p:cNvPr id="12" name="Texto 267"/>
          <p:cNvSpPr txBox="1"/>
          <p:nvPr/>
        </p:nvSpPr>
        <p:spPr>
          <a:xfrm>
            <a:off x="8275320" y="5074920"/>
            <a:ext cx="3108960" cy="292608"/>
          </a:xfrm>
          <a:prstGeom prst="rect">
            <a:avLst/>
          </a:prstGeom>
          <a:noFill/>
          <a:ln/>
        </p:spPr>
        <p:txBody>
          <a:bodyPr wrap="square" lIns="0" tIns="0" rIns="0" bIns="0" rtlCol="0" anchor="t"/>
          <a:lstStyle/>
          <a:p>
            <a:pPr indent="0" marL="0">
              <a:buNone/>
            </a:pPr>
            <a:r>
              <a:rPr lang="en-US" sz="1600" b="1" dirty="0">
                <a:solidFill>
                  <a:schemeClr val="tx2"/>
                </a:solidFill>
              </a:rPr>
              <a:t>Definición de terminado</a:t>
            </a:r>
            <a:endParaRPr lang="en-US" sz="1600" dirty="0"/>
          </a:p>
        </p:txBody>
      </p:sp>
      <p:sp>
        <p:nvSpPr>
          <p:cNvPr id="13" name="Texto 268"/>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500" dirty="0">
                <a:solidFill>
                  <a:schemeClr val="tx1"/>
                </a:solidFill>
              </a:rPr>
              <a:t>Funciona en otro equipo, está en GitHub y tiene evidencia.</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7 · PLANNING GENERAL Y GESTIÓN DE SPRINTS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Backlog por sprint</a:t>
            </a:r>
            <a:endParaRPr lang="en-US" sz="3600" dirty="0"/>
          </a:p>
        </p:txBody>
      </p:sp>
      <p:graphicFrame>
        <p:nvGraphicFramePr>
          <p:cNvPr id="19" name="Tabla backlog"/>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651760"/>
                <a:gridCol w="1828800"/>
                <a:gridCol w="3657600"/>
                <a:gridCol w="2926080"/>
              </a:tblGrid>
              <a:tr h="868680">
                <a:tc>
                  <a:txBody>
                    <a:bodyPr/>
                    <a:lstStyle/>
                    <a:p>
                      <a:pPr indent="0" marL="0">
                        <a:buNone/>
                      </a:pPr>
                      <a:r>
                        <a:rPr lang="en-US" sz="1600" b="1" dirty="0">
                          <a:solidFill>
                            <a:schemeClr val="bg1"/>
                          </a:solidFill>
                        </a:rPr>
                        <a:t>Sprint</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Objetivo</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Tareas principales</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Entregable</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2"/>
                    </a:solidFill>
                  </a:tcPr>
                </a:tc>
              </a:tr>
              <a:tr h="868680">
                <a:tc>
                  <a:txBody>
                    <a:bodyPr/>
                    <a:lstStyle/>
                    <a:p>
                      <a:pPr indent="0" marL="0">
                        <a:buNone/>
                      </a:pPr>
                      <a:r>
                        <a:rPr lang="en-US" sz="1600" b="1" dirty="0">
                          <a:solidFill>
                            <a:schemeClr val="tx1"/>
                          </a:solidFill>
                        </a:rPr>
                        <a:t>Sprint 0 (Sem 5 a 10)</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Analizar y diseñar</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Problemática, requerimientos, flujos, mockups, BD, arquitectura y planning.</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Avance 2</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868680">
                <a:tc>
                  <a:txBody>
                    <a:bodyPr/>
                    <a:lstStyle/>
                    <a:p>
                      <a:pPr indent="0" marL="0">
                        <a:buNone/>
                      </a:pPr>
                      <a:r>
                        <a:rPr lang="en-US" sz="1600" b="1" dirty="0">
                          <a:solidFill>
                            <a:schemeClr val="tx1"/>
                          </a:solidFill>
                        </a:rPr>
                        <a:t>Sprint 1 (Sem 11 a 12)</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Base y acceso</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Proyecto Django y repositorio, conexión a la BD, modelos y migraciones, login con roles.</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Login con BD conectada (RF-01)</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868680">
                <a:tc>
                  <a:txBody>
                    <a:bodyPr/>
                    <a:lstStyle/>
                    <a:p>
                      <a:pPr indent="0" marL="0">
                        <a:buNone/>
                      </a:pPr>
                      <a:r>
                        <a:rPr lang="en-US" sz="1600" b="1" dirty="0">
                          <a:solidFill>
                            <a:schemeClr val="tx1"/>
                          </a:solidFill>
                        </a:rPr>
                        <a:t>Sprint 2 (Sem 13 a 14)</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Núcleo de monitoreo</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Agente psutil, reportes, alertas, dashboard con Polling y gestión de servidores.</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Dashboard con datos reales y alertas</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868680">
                <a:tc>
                  <a:txBody>
                    <a:bodyPr/>
                    <a:lstStyle/>
                    <a:p>
                      <a:pPr indent="0" marL="0">
                        <a:buNone/>
                      </a:pPr>
                      <a:r>
                        <a:rPr lang="en-US" sz="1600" b="1" dirty="0">
                          <a:solidFill>
                            <a:schemeClr val="tx1"/>
                          </a:solidFill>
                        </a:rPr>
                        <a:t>Sprint 3 (Sem 15 a 16)</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Historial y cierre</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Consulta por fecha (RF-06), WebSockets, pruebas, documentación y seguridad.</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Sistema completo y documentado</a:t>
                      </a:r>
                      <a:endParaRPr lang="en-US" sz="1600" dirty="0"/>
                    </a:p>
                  </a:txBody>
                  <a:tcPr marL="109728" marR="109728"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292608"/>
            <a:ext cx="9509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7 · PLANNING GENERAL Y GESTIÓN DE SPRINTS</a:t>
            </a:r>
            <a:endParaRPr lang="en-US" sz="1200" dirty="0"/>
          </a:p>
        </p:txBody>
      </p:sp>
      <p:sp>
        <p:nvSpPr>
          <p:cNvPr id="3" name="Text 1"/>
          <p:cNvSpPr/>
          <p:nvPr>
            <p:ph idx="103" type="title" hasCustomPrompt="1"/>
          </p:nvPr>
        </p:nvSpPr>
        <p:spPr>
          <a:xfrm>
            <a:off x="548640" y="603504"/>
            <a:ext cx="9601200" cy="777240"/>
          </a:xfrm>
          <a:prstGeom prst="rect">
            <a:avLst/>
          </a:prstGeom>
          <a:noFill/>
          <a:ln/>
        </p:spPr>
        <p:txBody>
          <a:bodyPr wrap="square" lIns="0" tIns="0" rIns="0" bIns="0" rtlCol="0" anchor="t"/>
          <a:lstStyle/>
          <a:p>
            <a:pPr algn="l" indent="0" marL="0">
              <a:buNone/>
            </a:pPr>
            <a:r>
              <a:rPr lang="en-US" sz="3600" b="1" dirty="0">
                <a:solidFill>
                  <a:schemeClr val="tx2"/>
                </a:solidFill>
              </a:rPr>
              <a:t>Riesgos y mitigación</a:t>
            </a:r>
            <a:endParaRPr lang="en-US" sz="3600" dirty="0"/>
          </a:p>
        </p:txBody>
      </p:sp>
      <p:sp>
        <p:nvSpPr>
          <p:cNvPr id="4" name="Texto 269"/>
          <p:cNvSpPr txBox="1"/>
          <p:nvPr/>
        </p:nvSpPr>
        <p:spPr>
          <a:xfrm>
            <a:off x="822960" y="1691640"/>
            <a:ext cx="2743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RIESGO</a:t>
            </a:r>
            <a:endParaRPr lang="en-US" sz="1200" dirty="0"/>
          </a:p>
        </p:txBody>
      </p:sp>
      <p:sp>
        <p:nvSpPr>
          <p:cNvPr id="5" name="Texto 270"/>
          <p:cNvSpPr txBox="1"/>
          <p:nvPr/>
        </p:nvSpPr>
        <p:spPr>
          <a:xfrm>
            <a:off x="4663440" y="1691640"/>
            <a:ext cx="2743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IMPACTO</a:t>
            </a:r>
            <a:endParaRPr lang="en-US" sz="1200" dirty="0"/>
          </a:p>
        </p:txBody>
      </p:sp>
      <p:sp>
        <p:nvSpPr>
          <p:cNvPr id="6" name="Texto 271"/>
          <p:cNvSpPr txBox="1"/>
          <p:nvPr/>
        </p:nvSpPr>
        <p:spPr>
          <a:xfrm>
            <a:off x="7498080" y="1691640"/>
            <a:ext cx="2743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MITIGACIÓN</a:t>
            </a:r>
            <a:endParaRPr lang="en-US" sz="1200" dirty="0"/>
          </a:p>
        </p:txBody>
      </p:sp>
      <p:sp>
        <p:nvSpPr>
          <p:cNvPr id="7" name="Tarjeta 272"/>
          <p:cNvSpPr/>
          <p:nvPr/>
        </p:nvSpPr>
        <p:spPr>
          <a:xfrm>
            <a:off x="548640" y="2103120"/>
            <a:ext cx="11064240" cy="868680"/>
          </a:xfrm>
          <a:prstGeom prst="roundRect">
            <a:avLst>
              <a:gd name="adj" fmla="val 10526"/>
            </a:avLst>
          </a:prstGeom>
          <a:solidFill>
            <a:schemeClr val="bg2"/>
          </a:solidFill>
          <a:ln/>
        </p:spPr>
      </p:sp>
      <p:sp>
        <p:nvSpPr>
          <p:cNvPr id="8" name="Texto 273"/>
          <p:cNvSpPr txBox="1"/>
          <p:nvPr/>
        </p:nvSpPr>
        <p:spPr>
          <a:xfrm>
            <a:off x="822960" y="2103120"/>
            <a:ext cx="3931920" cy="868680"/>
          </a:xfrm>
          <a:prstGeom prst="rect">
            <a:avLst/>
          </a:prstGeom>
          <a:noFill/>
          <a:ln/>
        </p:spPr>
        <p:txBody>
          <a:bodyPr wrap="square" lIns="0" tIns="0" rIns="0" bIns="0" rtlCol="0" anchor="ctr"/>
          <a:lstStyle/>
          <a:p>
            <a:pPr indent="0" marL="0">
              <a:buNone/>
            </a:pPr>
            <a:r>
              <a:rPr lang="en-US" sz="1600" b="1" dirty="0">
                <a:solidFill>
                  <a:schemeClr val="tx2"/>
                </a:solidFill>
              </a:rPr>
              <a:t>Dependencia de internet para Neon</a:t>
            </a:r>
            <a:endParaRPr lang="en-US" sz="1600" dirty="0"/>
          </a:p>
        </p:txBody>
      </p:sp>
      <p:sp>
        <p:nvSpPr>
          <p:cNvPr id="9" name="Texto 274"/>
          <p:cNvSpPr txBox="1"/>
          <p:nvPr/>
        </p:nvSpPr>
        <p:spPr>
          <a:xfrm>
            <a:off x="4663440" y="2103120"/>
            <a:ext cx="2560320" cy="868680"/>
          </a:xfrm>
          <a:prstGeom prst="rect">
            <a:avLst/>
          </a:prstGeom>
          <a:noFill/>
          <a:ln/>
        </p:spPr>
        <p:txBody>
          <a:bodyPr wrap="square" lIns="0" tIns="0" rIns="0" bIns="0" rtlCol="0" anchor="ctr"/>
          <a:lstStyle/>
          <a:p>
            <a:pPr indent="0" marL="0">
              <a:buNone/>
            </a:pPr>
            <a:r>
              <a:rPr lang="en-US" sz="1500" dirty="0">
                <a:solidFill>
                  <a:schemeClr val="tx1"/>
                </a:solidFill>
              </a:rPr>
              <a:t>No se puede probar sin conexión</a:t>
            </a:r>
            <a:endParaRPr lang="en-US" sz="1500" dirty="0"/>
          </a:p>
        </p:txBody>
      </p:sp>
      <p:sp>
        <p:nvSpPr>
          <p:cNvPr id="10" name="Texto 275"/>
          <p:cNvSpPr txBox="1"/>
          <p:nvPr/>
        </p:nvSpPr>
        <p:spPr>
          <a:xfrm>
            <a:off x="7498080" y="2103120"/>
            <a:ext cx="4023360" cy="868680"/>
          </a:xfrm>
          <a:prstGeom prst="rect">
            <a:avLst/>
          </a:prstGeom>
          <a:noFill/>
          <a:ln/>
        </p:spPr>
        <p:txBody>
          <a:bodyPr wrap="square" lIns="0" tIns="0" rIns="0" bIns="0" rtlCol="0" anchor="ctr"/>
          <a:lstStyle/>
          <a:p>
            <a:pPr indent="0" marL="0">
              <a:buNone/>
            </a:pPr>
            <a:r>
              <a:rPr lang="en-US" sz="1500" dirty="0">
                <a:solidFill>
                  <a:schemeClr val="tx1"/>
                </a:solidFill>
              </a:rPr>
              <a:t>Usar SQLite local para desarrollo</a:t>
            </a:r>
            <a:endParaRPr lang="en-US" sz="1500" dirty="0"/>
          </a:p>
        </p:txBody>
      </p:sp>
      <p:sp>
        <p:nvSpPr>
          <p:cNvPr id="11" name="Tarjeta 276"/>
          <p:cNvSpPr/>
          <p:nvPr/>
        </p:nvSpPr>
        <p:spPr>
          <a:xfrm>
            <a:off x="548640" y="3108960"/>
            <a:ext cx="11064240" cy="868680"/>
          </a:xfrm>
          <a:prstGeom prst="roundRect">
            <a:avLst>
              <a:gd name="adj" fmla="val 10526"/>
            </a:avLst>
          </a:prstGeom>
          <a:solidFill>
            <a:schemeClr val="bg2"/>
          </a:solidFill>
          <a:ln/>
        </p:spPr>
      </p:sp>
      <p:sp>
        <p:nvSpPr>
          <p:cNvPr id="12" name="Texto 277"/>
          <p:cNvSpPr txBox="1"/>
          <p:nvPr/>
        </p:nvSpPr>
        <p:spPr>
          <a:xfrm>
            <a:off x="822960" y="3108960"/>
            <a:ext cx="3931920" cy="868680"/>
          </a:xfrm>
          <a:prstGeom prst="rect">
            <a:avLst/>
          </a:prstGeom>
          <a:noFill/>
          <a:ln/>
        </p:spPr>
        <p:txBody>
          <a:bodyPr wrap="square" lIns="0" tIns="0" rIns="0" bIns="0" rtlCol="0" anchor="ctr"/>
          <a:lstStyle/>
          <a:p>
            <a:pPr indent="0" marL="0">
              <a:buNone/>
            </a:pPr>
            <a:r>
              <a:rPr lang="en-US" sz="1600" b="1" dirty="0">
                <a:solidFill>
                  <a:schemeClr val="tx2"/>
                </a:solidFill>
              </a:rPr>
              <a:t>WebSockets añaden complejidad</a:t>
            </a:r>
            <a:endParaRPr lang="en-US" sz="1600" dirty="0"/>
          </a:p>
        </p:txBody>
      </p:sp>
      <p:sp>
        <p:nvSpPr>
          <p:cNvPr id="13" name="Texto 278"/>
          <p:cNvSpPr txBox="1"/>
          <p:nvPr/>
        </p:nvSpPr>
        <p:spPr>
          <a:xfrm>
            <a:off x="4663440" y="3108960"/>
            <a:ext cx="2560320" cy="868680"/>
          </a:xfrm>
          <a:prstGeom prst="rect">
            <a:avLst/>
          </a:prstGeom>
          <a:noFill/>
          <a:ln/>
        </p:spPr>
        <p:txBody>
          <a:bodyPr wrap="square" lIns="0" tIns="0" rIns="0" bIns="0" rtlCol="0" anchor="ctr"/>
          <a:lstStyle/>
          <a:p>
            <a:pPr indent="0" marL="0">
              <a:buNone/>
            </a:pPr>
            <a:r>
              <a:rPr lang="en-US" sz="1500" dirty="0">
                <a:solidFill>
                  <a:schemeClr val="tx1"/>
                </a:solidFill>
              </a:rPr>
              <a:t>Puede retrasar el Sprint 3</a:t>
            </a:r>
            <a:endParaRPr lang="en-US" sz="1500" dirty="0"/>
          </a:p>
        </p:txBody>
      </p:sp>
      <p:sp>
        <p:nvSpPr>
          <p:cNvPr id="14" name="Texto 279"/>
          <p:cNvSpPr txBox="1"/>
          <p:nvPr/>
        </p:nvSpPr>
        <p:spPr>
          <a:xfrm>
            <a:off x="7498080" y="3108960"/>
            <a:ext cx="4023360" cy="868680"/>
          </a:xfrm>
          <a:prstGeom prst="rect">
            <a:avLst/>
          </a:prstGeom>
          <a:noFill/>
          <a:ln/>
        </p:spPr>
        <p:txBody>
          <a:bodyPr wrap="square" lIns="0" tIns="0" rIns="0" bIns="0" rtlCol="0" anchor="ctr"/>
          <a:lstStyle/>
          <a:p>
            <a:pPr indent="0" marL="0">
              <a:buNone/>
            </a:pPr>
            <a:r>
              <a:rPr lang="en-US" sz="1500" dirty="0">
                <a:solidFill>
                  <a:schemeClr val="tx1"/>
                </a:solidFill>
              </a:rPr>
              <a:t>Mantener Polling como versión funcional</a:t>
            </a:r>
            <a:endParaRPr lang="en-US" sz="1500" dirty="0"/>
          </a:p>
        </p:txBody>
      </p:sp>
      <p:sp>
        <p:nvSpPr>
          <p:cNvPr id="15" name="Tarjeta 280"/>
          <p:cNvSpPr/>
          <p:nvPr/>
        </p:nvSpPr>
        <p:spPr>
          <a:xfrm>
            <a:off x="548640" y="4114800"/>
            <a:ext cx="11064240" cy="868680"/>
          </a:xfrm>
          <a:prstGeom prst="roundRect">
            <a:avLst>
              <a:gd name="adj" fmla="val 10526"/>
            </a:avLst>
          </a:prstGeom>
          <a:solidFill>
            <a:schemeClr val="bg2"/>
          </a:solidFill>
          <a:ln/>
        </p:spPr>
      </p:sp>
      <p:sp>
        <p:nvSpPr>
          <p:cNvPr id="16" name="Texto 281"/>
          <p:cNvSpPr txBox="1"/>
          <p:nvPr/>
        </p:nvSpPr>
        <p:spPr>
          <a:xfrm>
            <a:off x="822960" y="4114800"/>
            <a:ext cx="3931920" cy="868680"/>
          </a:xfrm>
          <a:prstGeom prst="rect">
            <a:avLst/>
          </a:prstGeom>
          <a:noFill/>
          <a:ln/>
        </p:spPr>
        <p:txBody>
          <a:bodyPr wrap="square" lIns="0" tIns="0" rIns="0" bIns="0" rtlCol="0" anchor="ctr"/>
          <a:lstStyle/>
          <a:p>
            <a:pPr indent="0" marL="0">
              <a:buNone/>
            </a:pPr>
            <a:r>
              <a:rPr lang="en-US" sz="1600" b="1" dirty="0">
                <a:solidFill>
                  <a:schemeClr val="tx2"/>
                </a:solidFill>
              </a:rPr>
              <a:t>Leer servidores remotos es más complejo</a:t>
            </a:r>
            <a:endParaRPr lang="en-US" sz="1600" dirty="0"/>
          </a:p>
        </p:txBody>
      </p:sp>
      <p:sp>
        <p:nvSpPr>
          <p:cNvPr id="17" name="Texto 282"/>
          <p:cNvSpPr txBox="1"/>
          <p:nvPr/>
        </p:nvSpPr>
        <p:spPr>
          <a:xfrm>
            <a:off x="4663440" y="4114800"/>
            <a:ext cx="2560320" cy="868680"/>
          </a:xfrm>
          <a:prstGeom prst="rect">
            <a:avLst/>
          </a:prstGeom>
          <a:noFill/>
          <a:ln/>
        </p:spPr>
        <p:txBody>
          <a:bodyPr wrap="square" lIns="0" tIns="0" rIns="0" bIns="0" rtlCol="0" anchor="ctr"/>
          <a:lstStyle/>
          <a:p>
            <a:pPr indent="0" marL="0">
              <a:buNone/>
            </a:pPr>
            <a:r>
              <a:rPr lang="en-US" sz="1500" dirty="0">
                <a:solidFill>
                  <a:schemeClr val="tx1"/>
                </a:solidFill>
              </a:rPr>
              <a:t>Reduce el alcance</a:t>
            </a:r>
            <a:endParaRPr lang="en-US" sz="1500" dirty="0"/>
          </a:p>
        </p:txBody>
      </p:sp>
      <p:sp>
        <p:nvSpPr>
          <p:cNvPr id="18" name="Texto 283"/>
          <p:cNvSpPr txBox="1"/>
          <p:nvPr/>
        </p:nvSpPr>
        <p:spPr>
          <a:xfrm>
            <a:off x="7498080" y="4114800"/>
            <a:ext cx="4023360" cy="868680"/>
          </a:xfrm>
          <a:prstGeom prst="rect">
            <a:avLst/>
          </a:prstGeom>
          <a:noFill/>
          <a:ln/>
        </p:spPr>
        <p:txBody>
          <a:bodyPr wrap="square" lIns="0" tIns="0" rIns="0" bIns="0" rtlCol="0" anchor="ctr"/>
          <a:lstStyle/>
          <a:p>
            <a:pPr indent="0" marL="0">
              <a:buNone/>
            </a:pPr>
            <a:r>
              <a:rPr lang="en-US" sz="1500" dirty="0">
                <a:solidFill>
                  <a:schemeClr val="tx1"/>
                </a:solidFill>
              </a:rPr>
              <a:t>Validar primero con el equipo local (Sprint 2)</a:t>
            </a:r>
            <a:endParaRPr lang="en-US" sz="1500" dirty="0"/>
          </a:p>
        </p:txBody>
      </p:sp>
      <p:sp>
        <p:nvSpPr>
          <p:cNvPr id="19" name="Tarjeta 284"/>
          <p:cNvSpPr/>
          <p:nvPr/>
        </p:nvSpPr>
        <p:spPr>
          <a:xfrm>
            <a:off x="548640" y="5120640"/>
            <a:ext cx="11064240" cy="868680"/>
          </a:xfrm>
          <a:prstGeom prst="roundRect">
            <a:avLst>
              <a:gd name="adj" fmla="val 10526"/>
            </a:avLst>
          </a:prstGeom>
          <a:solidFill>
            <a:schemeClr val="bg2"/>
          </a:solidFill>
          <a:ln/>
        </p:spPr>
      </p:sp>
      <p:sp>
        <p:nvSpPr>
          <p:cNvPr id="20" name="Texto 285"/>
          <p:cNvSpPr txBox="1"/>
          <p:nvPr/>
        </p:nvSpPr>
        <p:spPr>
          <a:xfrm>
            <a:off x="822960" y="5120640"/>
            <a:ext cx="3931920" cy="868680"/>
          </a:xfrm>
          <a:prstGeom prst="rect">
            <a:avLst/>
          </a:prstGeom>
          <a:noFill/>
          <a:ln/>
        </p:spPr>
        <p:txBody>
          <a:bodyPr wrap="square" lIns="0" tIns="0" rIns="0" bIns="0" rtlCol="0" anchor="ctr"/>
          <a:lstStyle/>
          <a:p>
            <a:pPr indent="0" marL="0">
              <a:buNone/>
            </a:pPr>
            <a:r>
              <a:rPr lang="en-US" sz="1600" b="1" dirty="0">
                <a:solidFill>
                  <a:schemeClr val="tx2"/>
                </a:solidFill>
              </a:rPr>
              <a:t>Credenciales expuestas en el repositorio</a:t>
            </a:r>
            <a:endParaRPr lang="en-US" sz="1600" dirty="0"/>
          </a:p>
        </p:txBody>
      </p:sp>
      <p:sp>
        <p:nvSpPr>
          <p:cNvPr id="21" name="Texto 286"/>
          <p:cNvSpPr txBox="1"/>
          <p:nvPr/>
        </p:nvSpPr>
        <p:spPr>
          <a:xfrm>
            <a:off x="4663440" y="5120640"/>
            <a:ext cx="2560320" cy="868680"/>
          </a:xfrm>
          <a:prstGeom prst="rect">
            <a:avLst/>
          </a:prstGeom>
          <a:noFill/>
          <a:ln/>
        </p:spPr>
        <p:txBody>
          <a:bodyPr wrap="square" lIns="0" tIns="0" rIns="0" bIns="0" rtlCol="0" anchor="ctr"/>
          <a:lstStyle/>
          <a:p>
            <a:pPr indent="0" marL="0">
              <a:buNone/>
            </a:pPr>
            <a:r>
              <a:rPr lang="en-US" sz="1500" dirty="0">
                <a:solidFill>
                  <a:schemeClr val="tx1"/>
                </a:solidFill>
              </a:rPr>
              <a:t>Riesgo de seguridad</a:t>
            </a:r>
            <a:endParaRPr lang="en-US" sz="1500" dirty="0"/>
          </a:p>
        </p:txBody>
      </p:sp>
      <p:sp>
        <p:nvSpPr>
          <p:cNvPr id="22" name="Texto 287"/>
          <p:cNvSpPr txBox="1"/>
          <p:nvPr/>
        </p:nvSpPr>
        <p:spPr>
          <a:xfrm>
            <a:off x="7498080" y="5120640"/>
            <a:ext cx="4023360" cy="868680"/>
          </a:xfrm>
          <a:prstGeom prst="rect">
            <a:avLst/>
          </a:prstGeom>
          <a:noFill/>
          <a:ln/>
        </p:spPr>
        <p:txBody>
          <a:bodyPr wrap="square" lIns="0" tIns="0" rIns="0" bIns="0" rtlCol="0" anchor="ctr"/>
          <a:lstStyle/>
          <a:p>
            <a:pPr indent="0" marL="0">
              <a:buNone/>
            </a:pPr>
            <a:r>
              <a:rPr lang="en-US" sz="1500" dirty="0">
                <a:solidFill>
                  <a:schemeClr val="tx1"/>
                </a:solidFill>
              </a:rPr>
              <a:t>Variables de entorno y .gitignore desde el Sprint 1</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0789920" cy="822960"/>
          </a:xfrm>
          <a:prstGeom prst="rect">
            <a:avLst/>
          </a:prstGeom>
          <a:noFill/>
          <a:ln/>
        </p:spPr>
        <p:txBody>
          <a:bodyPr wrap="square" lIns="0" tIns="0" rIns="0" bIns="0" rtlCol="0" anchor="t"/>
          <a:lstStyle/>
          <a:p>
            <a:pPr algn="l" indent="0" marL="0">
              <a:buNone/>
            </a:pPr>
            <a:r>
              <a:rPr lang="en-US" sz="3600" b="1" dirty="0">
                <a:solidFill>
                  <a:schemeClr val="bg1"/>
                </a:solidFill>
              </a:rPr>
              <a:t>Próximos pasos</a:t>
            </a:r>
            <a:endParaRPr lang="en-US" sz="3600" dirty="0"/>
          </a:p>
        </p:txBody>
      </p:sp>
      <p:sp>
        <p:nvSpPr>
          <p:cNvPr id="3" name="Insignia 288"/>
          <p:cNvSpPr/>
          <p:nvPr/>
        </p:nvSpPr>
        <p:spPr>
          <a:xfrm>
            <a:off x="548640" y="1737360"/>
            <a:ext cx="548640" cy="548640"/>
          </a:xfrm>
          <a:prstGeom prst="ellipse">
            <a:avLst/>
          </a:prstGeom>
          <a:solidFill>
            <a:schemeClr val="accent1"/>
          </a:solidFill>
          <a:ln/>
        </p:spPr>
      </p:sp>
      <p:sp>
        <p:nvSpPr>
          <p:cNvPr id="4" name="Insignia texto 289"/>
          <p:cNvSpPr txBox="1"/>
          <p:nvPr/>
        </p:nvSpPr>
        <p:spPr>
          <a:xfrm>
            <a:off x="548640" y="173736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5" name="Texto 290"/>
          <p:cNvSpPr txBox="1"/>
          <p:nvPr/>
        </p:nvSpPr>
        <p:spPr>
          <a:xfrm>
            <a:off x="1371600" y="1737360"/>
            <a:ext cx="9875520" cy="548640"/>
          </a:xfrm>
          <a:prstGeom prst="rect">
            <a:avLst/>
          </a:prstGeom>
          <a:noFill/>
          <a:ln/>
        </p:spPr>
        <p:txBody>
          <a:bodyPr wrap="square" lIns="0" tIns="0" rIns="0" bIns="0" rtlCol="0" anchor="ctr"/>
          <a:lstStyle/>
          <a:p>
            <a:pPr indent="0" marL="0">
              <a:buNone/>
            </a:pPr>
            <a:r>
              <a:rPr lang="en-US" sz="1800" dirty="0">
                <a:solidFill>
                  <a:schemeClr val="bg1"/>
                </a:solidFill>
              </a:rPr>
              <a:t>Subir el proyecto Django base al repositorio de GitHub, con una rama por integrante.</a:t>
            </a:r>
            <a:endParaRPr lang="en-US" sz="1800" dirty="0"/>
          </a:p>
        </p:txBody>
      </p:sp>
      <p:sp>
        <p:nvSpPr>
          <p:cNvPr id="6" name="Insignia 291"/>
          <p:cNvSpPr/>
          <p:nvPr/>
        </p:nvSpPr>
        <p:spPr>
          <a:xfrm>
            <a:off x="548640" y="2651760"/>
            <a:ext cx="548640" cy="548640"/>
          </a:xfrm>
          <a:prstGeom prst="ellipse">
            <a:avLst/>
          </a:prstGeom>
          <a:solidFill>
            <a:schemeClr val="accent1"/>
          </a:solidFill>
          <a:ln/>
        </p:spPr>
      </p:sp>
      <p:sp>
        <p:nvSpPr>
          <p:cNvPr id="7" name="Insignia texto 292"/>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8" name="Texto 293"/>
          <p:cNvSpPr txBox="1"/>
          <p:nvPr/>
        </p:nvSpPr>
        <p:spPr>
          <a:xfrm>
            <a:off x="1371600" y="2651760"/>
            <a:ext cx="9875520" cy="548640"/>
          </a:xfrm>
          <a:prstGeom prst="rect">
            <a:avLst/>
          </a:prstGeom>
          <a:noFill/>
          <a:ln/>
        </p:spPr>
        <p:txBody>
          <a:bodyPr wrap="square" lIns="0" tIns="0" rIns="0" bIns="0" rtlCol="0" anchor="ctr"/>
          <a:lstStyle/>
          <a:p>
            <a:pPr indent="0" marL="0">
              <a:buNone/>
            </a:pPr>
            <a:r>
              <a:rPr lang="en-US" sz="1800" dirty="0">
                <a:solidFill>
                  <a:schemeClr val="bg1"/>
                </a:solidFill>
              </a:rPr>
              <a:t>Conectar la base de datos y crear los modelos Usuario, Servidor y Reporte.</a:t>
            </a:r>
            <a:endParaRPr lang="en-US" sz="1800" dirty="0"/>
          </a:p>
        </p:txBody>
      </p:sp>
      <p:sp>
        <p:nvSpPr>
          <p:cNvPr id="9" name="Insignia 294"/>
          <p:cNvSpPr/>
          <p:nvPr/>
        </p:nvSpPr>
        <p:spPr>
          <a:xfrm>
            <a:off x="548640" y="3566160"/>
            <a:ext cx="548640" cy="548640"/>
          </a:xfrm>
          <a:prstGeom prst="ellipse">
            <a:avLst/>
          </a:prstGeom>
          <a:solidFill>
            <a:schemeClr val="accent1"/>
          </a:solidFill>
          <a:ln/>
        </p:spPr>
      </p:sp>
      <p:sp>
        <p:nvSpPr>
          <p:cNvPr id="10" name="Insignia texto 295"/>
          <p:cNvSpPr txBox="1"/>
          <p:nvPr/>
        </p:nvSpPr>
        <p:spPr>
          <a:xfrm>
            <a:off x="548640" y="356616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1" name="Texto 296"/>
          <p:cNvSpPr txBox="1"/>
          <p:nvPr/>
        </p:nvSpPr>
        <p:spPr>
          <a:xfrm>
            <a:off x="1371600" y="3566160"/>
            <a:ext cx="9875520" cy="548640"/>
          </a:xfrm>
          <a:prstGeom prst="rect">
            <a:avLst/>
          </a:prstGeom>
          <a:noFill/>
          <a:ln/>
        </p:spPr>
        <p:txBody>
          <a:bodyPr wrap="square" lIns="0" tIns="0" rIns="0" bIns="0" rtlCol="0" anchor="ctr"/>
          <a:lstStyle/>
          <a:p>
            <a:pPr indent="0" marL="0">
              <a:buNone/>
            </a:pPr>
            <a:r>
              <a:rPr lang="en-US" sz="1800" dirty="0">
                <a:solidFill>
                  <a:schemeClr val="bg1"/>
                </a:solidFill>
              </a:rPr>
              <a:t>Implementar el login con roles y las pantallas de los mockups.</a:t>
            </a:r>
            <a:endParaRPr lang="en-US" sz="1800" dirty="0"/>
          </a:p>
        </p:txBody>
      </p:sp>
      <p:sp>
        <p:nvSpPr>
          <p:cNvPr id="12" name="Insignia 297"/>
          <p:cNvSpPr/>
          <p:nvPr/>
        </p:nvSpPr>
        <p:spPr>
          <a:xfrm>
            <a:off x="548640" y="4480560"/>
            <a:ext cx="548640" cy="548640"/>
          </a:xfrm>
          <a:prstGeom prst="ellipse">
            <a:avLst/>
          </a:prstGeom>
          <a:solidFill>
            <a:schemeClr val="accent1"/>
          </a:solidFill>
          <a:ln/>
        </p:spPr>
      </p:sp>
      <p:sp>
        <p:nvSpPr>
          <p:cNvPr id="13" name="Insignia texto 298"/>
          <p:cNvSpPr txBox="1"/>
          <p:nvPr/>
        </p:nvSpPr>
        <p:spPr>
          <a:xfrm>
            <a:off x="548640" y="448056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14" name="Texto 299"/>
          <p:cNvSpPr txBox="1"/>
          <p:nvPr/>
        </p:nvSpPr>
        <p:spPr>
          <a:xfrm>
            <a:off x="1371600" y="4480560"/>
            <a:ext cx="9875520" cy="548640"/>
          </a:xfrm>
          <a:prstGeom prst="rect">
            <a:avLst/>
          </a:prstGeom>
          <a:noFill/>
          <a:ln/>
        </p:spPr>
        <p:txBody>
          <a:bodyPr wrap="square" lIns="0" tIns="0" rIns="0" bIns="0" rtlCol="0" anchor="ctr"/>
          <a:lstStyle/>
          <a:p>
            <a:pPr indent="0" marL="0">
              <a:buNone/>
            </a:pPr>
            <a:r>
              <a:rPr lang="en-US" sz="1800" dirty="0">
                <a:solidFill>
                  <a:schemeClr val="bg1"/>
                </a:solidFill>
              </a:rPr>
              <a:t>Construir el agente con psutil y el dashboard con Polling.</a:t>
            </a:r>
            <a:endParaRPr lang="en-US" sz="1800" dirty="0"/>
          </a:p>
        </p:txBody>
      </p:sp>
      <p:sp>
        <p:nvSpPr>
          <p:cNvPr id="15" name="Texto 300"/>
          <p:cNvSpPr txBox="1"/>
          <p:nvPr/>
        </p:nvSpPr>
        <p:spPr>
          <a:xfrm>
            <a:off x="548640" y="5577840"/>
            <a:ext cx="10515600" cy="320040"/>
          </a:xfrm>
          <a:prstGeom prst="rect">
            <a:avLst/>
          </a:prstGeom>
          <a:noFill/>
          <a:ln/>
        </p:spPr>
        <p:txBody>
          <a:bodyPr wrap="square" lIns="0" tIns="0" rIns="0" bIns="0" rtlCol="0" anchor="t"/>
          <a:lstStyle/>
          <a:p>
            <a:pPr indent="0" marL="0">
              <a:buNone/>
            </a:pPr>
            <a:r>
              <a:rPr lang="en-US" sz="1400" dirty="0">
                <a:solidFill>
                  <a:schemeClr val="accent1"/>
                </a:solidFill>
              </a:rPr>
              <a:t>Repositorio: github.com/R-SIGMA/AgenteTelemetriaMonitoreo</a:t>
            </a:r>
            <a:endParaRPr lang="en-US" sz="1400" dirty="0"/>
          </a:p>
        </p:txBody>
      </p:sp>
      <p:sp>
        <p:nvSpPr>
          <p:cNvPr id="16" name="Texto 301"/>
          <p:cNvSpPr txBox="1"/>
          <p:nvPr/>
        </p:nvSpPr>
        <p:spPr>
          <a:xfrm>
            <a:off x="548640" y="6035040"/>
            <a:ext cx="7315200" cy="411480"/>
          </a:xfrm>
          <a:prstGeom prst="rect">
            <a:avLst/>
          </a:prstGeom>
          <a:noFill/>
          <a:ln/>
        </p:spPr>
        <p:txBody>
          <a:bodyPr wrap="square" lIns="0" tIns="0" rIns="0" bIns="0" rtlCol="0" anchor="t"/>
          <a:lstStyle/>
          <a:p>
            <a:pPr indent="0" marL="0">
              <a:buNone/>
            </a:pPr>
            <a:r>
              <a:rPr lang="en-US" sz="2000" i="1" dirty="0">
                <a:solidFill>
                  <a:schemeClr val="bg1"/>
                </a:solidFill>
              </a:rPr>
              <a:t>Gracias — preguntas</a:t>
            </a:r>
            <a:endParaRPr lang="en-US" sz="2000" dirty="0"/>
          </a:p>
        </p:txBody>
      </p:sp>
    </p:spTree>
  </p:cSld>
  <p:clrMapOvr>
    <a:masterClrMapping/>
  </p:clrMapOvr>
</p:sld>
</file>

<file path=ppt/theme/theme1.xml><?xml version="1.0" encoding="utf-8"?>
<a:theme xmlns:a="http://schemas.openxmlformats.org/drawingml/2006/main" name="Telemetria UTP">
  <a:themeElements>
    <a:clrScheme name="Telemetria UTP">
      <a:dk1>
        <a:srgbClr val="1A1A2E"/>
      </a:dk1>
      <a:lt1>
        <a:srgbClr val="FFFFFF"/>
      </a:lt1>
      <a:dk2>
        <a:srgbClr val="1E2761"/>
      </a:dk2>
      <a:lt2>
        <a:srgbClr val="F2F2F2"/>
      </a:lt2>
      <a:accent1>
        <a:srgbClr val="CADCFC"/>
      </a:accent1>
      <a:accent2>
        <a:srgbClr val="0F6E56"/>
      </a:accent2>
      <a:accent3>
        <a:srgbClr val="854F0B"/>
      </a:accent3>
      <a:accent4>
        <a:srgbClr val="185FA5"/>
      </a:accent4>
      <a:accent5>
        <a:srgbClr val="534AB7"/>
      </a:accent5>
      <a:accent6>
        <a:srgbClr val="5F5E5A"/>
      </a:accent6>
      <a:hlink>
        <a:srgbClr val="185FA5"/>
      </a:hlink>
      <a:folHlink>
        <a:srgbClr val="534AB7"/>
      </a:folHlink>
    </a:clrScheme>
    <a:fontScheme name="Telemetria UT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2 (Semana 10) - Caso 3 - Agente de Telemetría</dc:title>
  <dc:subject>PptxGenJS Presentation</dc:subject>
  <dc:creator>PptxGenJS</dc:creator>
  <cp:lastModifiedBy>PptxGenJS</cp:lastModifiedBy>
  <cp:revision>1</cp:revision>
  <dcterms:created xsi:type="dcterms:W3CDTF">2026-10-11T23:35:58Z</dcterms:created>
  <dcterms:modified xsi:type="dcterms:W3CDTF">2026-10-11T23:35:58Z</dcterms:modified>
</cp:coreProperties>
</file>